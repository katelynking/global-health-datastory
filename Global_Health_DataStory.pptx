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7" r:id="rId19"/>
    <p:sldId id="268" r:id="rId20"/>
    <p:sldId id="269" r:id="rId21"/>
    <p:sldId id="270" r:id="rId22"/>
    <p:sldId id="271" r:id="rId23"/>
    <p:sldId id="272" r:id="rId24"/>
    <p:sldId id="265" r:id="rId17"/>
    <p:sldId id="266" r:id="rId18"/>
    <p:sldId id="275" r:id="rId27"/>
    <p:sldId id="273" r:id="rId25"/>
    <p:sldId id="274" r:id="rId26"/>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standalone='yes'?>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9600" y="92074"/>
            <a:ext cx="10972800" cy="1508127"/>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92800" y="6172200"/>
            <a:ext cx="2844800" cy="3683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 name="Text 0"/>
          <p:cNvSpPr txBox="1"/>
          <p:nvPr/>
        </p:nvSpPr>
        <p:spPr>
          <a:xfrm>
            <a:off x="777239" y="2392680"/>
            <a:ext cx="10607042" cy="134112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nSpc>
                <a:spcPct val="104999"/>
              </a:lnSpc>
              <a:defRPr b="1" sz="4000">
                <a:solidFill>
                  <a:srgbClr val="1F2430"/>
                </a:solidFill>
                <a:latin typeface="Roboto"/>
                <a:ea typeface="Roboto"/>
                <a:cs typeface="Roboto"/>
                <a:sym typeface="Roboto"/>
              </a:defRPr>
            </a:pPr>
            <a:r>
              <a:t>What Actually Explains</a:t>
            </a:r>
          </a:p>
          <a:p>
            <a:pPr>
              <a:lnSpc>
                <a:spcPct val="104999"/>
              </a:lnSpc>
              <a:defRPr b="1" sz="4000">
                <a:solidFill>
                  <a:srgbClr val="1F2430"/>
                </a:solidFill>
                <a:latin typeface="Roboto"/>
                <a:ea typeface="Roboto"/>
                <a:cs typeface="Roboto"/>
                <a:sym typeface="Roboto"/>
              </a:defRPr>
            </a:pPr>
            <a:r>
              <a:t>Life Expectancy</a:t>
            </a:r>
          </a:p>
        </p:txBody>
      </p:sp>
      <p:sp>
        <p:nvSpPr>
          <p:cNvPr id="21" name="Text 1"/>
          <p:cNvSpPr txBox="1"/>
          <p:nvPr/>
        </p:nvSpPr>
        <p:spPr>
          <a:xfrm>
            <a:off x="777239" y="4020820"/>
            <a:ext cx="9966961"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a:solidFill>
                  <a:srgbClr val="065A82"/>
                </a:solidFill>
                <a:latin typeface="Roboto"/>
                <a:ea typeface="Roboto"/>
                <a:cs typeface="Roboto"/>
                <a:sym typeface="Roboto"/>
              </a:defRPr>
            </a:lvl1pPr>
          </a:lstStyle>
          <a:p>
            <a:pPr/>
            <a:r>
              <a:t>A Global Health Data Story  ·  215 countries and territories, 2000-2023</a:t>
            </a:r>
          </a:p>
        </p:txBody>
      </p:sp>
      <p:sp>
        <p:nvSpPr>
          <p:cNvPr id="22" name="Text 2"/>
          <p:cNvSpPr txBox="1"/>
          <p:nvPr/>
        </p:nvSpPr>
        <p:spPr>
          <a:xfrm>
            <a:off x="777239" y="6024880"/>
            <a:ext cx="10424161"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5B6472"/>
                </a:solidFill>
                <a:latin typeface="Roboto"/>
                <a:ea typeface="Roboto"/>
                <a:cs typeface="Roboto"/>
                <a:sym typeface="Roboto"/>
              </a:defRPr>
            </a:lvl1pPr>
          </a:lstStyle>
          <a:p>
            <a:pPr/>
            <a:r>
              <a:t>Katelyn Rakonjac   |   17:610:554 Information Visualization &amp; Presentation   |   Term Project</a:t>
            </a:r>
          </a:p>
        </p:txBody>
      </p:sp>
      <p:sp>
        <p:nvSpPr>
          <p:cNvPr id="23" name="Shape 3"/>
          <p:cNvSpPr/>
          <p:nvPr/>
        </p:nvSpPr>
        <p:spPr>
          <a:xfrm>
            <a:off x="10561319" y="502919"/>
            <a:ext cx="457201" cy="457201"/>
          </a:xfrm>
          <a:prstGeom prst="ellipse">
            <a:avLst/>
          </a:prstGeom>
          <a:solidFill>
            <a:srgbClr val="C1611D"/>
          </a:solidFill>
          <a:ln w="12700">
            <a:solidFill>
              <a:srgbClr val="FFFFFF"/>
            </a:solidFill>
          </a:ln>
        </p:spPr>
        <p:txBody>
          <a:bodyPr lIns="45719" rIns="45719"/>
          <a:lstStyle/>
          <a:p>
            <a:pPr/>
          </a:p>
        </p:txBody>
      </p:sp>
      <p:sp>
        <p:nvSpPr>
          <p:cNvPr id="24" name="Shape 4"/>
          <p:cNvSpPr/>
          <p:nvPr/>
        </p:nvSpPr>
        <p:spPr>
          <a:xfrm>
            <a:off x="11018519" y="822960"/>
            <a:ext cx="320041" cy="320041"/>
          </a:xfrm>
          <a:prstGeom prst="ellipse">
            <a:avLst/>
          </a:prstGeom>
          <a:solidFill>
            <a:srgbClr val="1C7293"/>
          </a:solidFill>
          <a:ln w="12700">
            <a:solidFill>
              <a:srgbClr val="FFFFFF"/>
            </a:solidFill>
          </a:ln>
        </p:spPr>
        <p:txBody>
          <a:bodyPr lIns="45719" rIns="45719"/>
          <a:lstStyle/>
          <a:p>
            <a:pP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 name="Text 0"/>
          <p:cNvSpPr txBox="1"/>
          <p:nvPr/>
        </p:nvSpPr>
        <p:spPr>
          <a:xfrm>
            <a:off x="685800" y="486410"/>
            <a:ext cx="5394961" cy="30734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400">
                <a:solidFill>
                  <a:srgbClr val="C1611D"/>
                </a:solidFill>
                <a:latin typeface="Roboto"/>
                <a:ea typeface="Roboto"/>
                <a:cs typeface="Roboto"/>
                <a:sym typeface="Roboto"/>
              </a:defRPr>
            </a:lvl1pPr>
          </a:lstStyle>
          <a:p>
            <a:pPr/>
            <a:r>
              <a:t>THE QUESTION</a:t>
            </a:r>
          </a:p>
        </p:txBody>
      </p:sp>
      <p:sp>
        <p:nvSpPr>
          <p:cNvPr id="27" name="Text 1"/>
          <p:cNvSpPr txBox="1"/>
          <p:nvPr/>
        </p:nvSpPr>
        <p:spPr>
          <a:xfrm>
            <a:off x="701040" y="1384617"/>
            <a:ext cx="10789920" cy="1005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3000">
                <a:solidFill>
                  <a:srgbClr val="1F2430"/>
                </a:solidFill>
                <a:latin typeface="Roboto"/>
                <a:ea typeface="Roboto"/>
                <a:cs typeface="Roboto"/>
                <a:sym typeface="Roboto"/>
              </a:defRPr>
            </a:pPr>
            <a:r>
              <a:t>Which variables actually move life expectancy,</a:t>
            </a:r>
          </a:p>
          <a:p>
            <a:pPr>
              <a:defRPr b="1" sz="3000">
                <a:solidFill>
                  <a:srgbClr val="1F2430"/>
                </a:solidFill>
                <a:latin typeface="Roboto"/>
                <a:ea typeface="Roboto"/>
                <a:cs typeface="Roboto"/>
                <a:sym typeface="Roboto"/>
              </a:defRPr>
            </a:pPr>
            <a:r>
              <a:t>and which just ride along with wealth?</a:t>
            </a:r>
          </a:p>
        </p:txBody>
      </p:sp>
      <p:sp>
        <p:nvSpPr>
          <p:cNvPr id="28" name="Text 2"/>
          <p:cNvSpPr txBox="1"/>
          <p:nvPr/>
        </p:nvSpPr>
        <p:spPr>
          <a:xfrm>
            <a:off x="698674" y="2478404"/>
            <a:ext cx="6583680" cy="190119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30000"/>
              </a:lnSpc>
              <a:defRPr sz="1600">
                <a:solidFill>
                  <a:srgbClr val="5B6472"/>
                </a:solidFill>
                <a:latin typeface="Roboto"/>
                <a:ea typeface="Roboto"/>
                <a:cs typeface="Roboto"/>
                <a:sym typeface="Roboto"/>
              </a:defRPr>
            </a:lvl1pPr>
          </a:lstStyle>
          <a:p>
            <a:pPr/>
            <a:r>
              <a:t>Life expectancy is the number news stories use to sum up a country's health. But it's really the output of a bunch of quieter variables working together: healthcare spending, physician supply, national wealth, chronic disease, tobacco use, urbanization, connectivity, and more. This project tests each one against real data instead of assuming which ones matter.</a:t>
            </a:r>
          </a:p>
        </p:txBody>
      </p:sp>
      <p:sp>
        <p:nvSpPr>
          <p:cNvPr id="29" name="Shape 3"/>
          <p:cNvSpPr/>
          <p:nvPr/>
        </p:nvSpPr>
        <p:spPr>
          <a:xfrm>
            <a:off x="7772400" y="2468879"/>
            <a:ext cx="3657600" cy="914401"/>
          </a:xfrm>
          <a:prstGeom prst="roundRect">
            <a:avLst>
              <a:gd name="adj" fmla="val 8000"/>
            </a:avLst>
          </a:prstGeom>
          <a:solidFill>
            <a:srgbClr val="F4F6F8"/>
          </a:solidFill>
          <a:ln w="12700">
            <a:solidFill>
              <a:srgbClr val="E3DDD3"/>
            </a:solidFill>
          </a:ln>
        </p:spPr>
        <p:txBody>
          <a:bodyPr lIns="45719" rIns="45719"/>
          <a:lstStyle/>
          <a:p>
            <a:pPr/>
          </a:p>
        </p:txBody>
      </p:sp>
      <p:sp>
        <p:nvSpPr>
          <p:cNvPr id="30" name="Text 4"/>
          <p:cNvSpPr txBox="1"/>
          <p:nvPr/>
        </p:nvSpPr>
        <p:spPr>
          <a:xfrm>
            <a:off x="8046720" y="2633472"/>
            <a:ext cx="1097280" cy="548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065A82"/>
                </a:solidFill>
                <a:latin typeface="Roboto"/>
                <a:ea typeface="Roboto"/>
                <a:cs typeface="Roboto"/>
                <a:sym typeface="Roboto"/>
              </a:defRPr>
            </a:lvl1pPr>
          </a:lstStyle>
          <a:p>
            <a:pPr/>
            <a:r>
              <a:t>215</a:t>
            </a:r>
          </a:p>
        </p:txBody>
      </p:sp>
      <p:sp>
        <p:nvSpPr>
          <p:cNvPr id="31" name="Text 5"/>
          <p:cNvSpPr txBox="1"/>
          <p:nvPr/>
        </p:nvSpPr>
        <p:spPr>
          <a:xfrm>
            <a:off x="9235439" y="2760472"/>
            <a:ext cx="2011681"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5B6472"/>
                </a:solidFill>
                <a:latin typeface="Roboto"/>
                <a:ea typeface="Roboto"/>
                <a:cs typeface="Roboto"/>
                <a:sym typeface="Roboto"/>
              </a:defRPr>
            </a:lvl1pPr>
          </a:lstStyle>
          <a:p>
            <a:pPr/>
            <a:r>
              <a:t>countries &amp; territories</a:t>
            </a:r>
          </a:p>
        </p:txBody>
      </p:sp>
      <p:sp>
        <p:nvSpPr>
          <p:cNvPr id="32" name="Shape 6"/>
          <p:cNvSpPr/>
          <p:nvPr/>
        </p:nvSpPr>
        <p:spPr>
          <a:xfrm>
            <a:off x="7772400" y="3611879"/>
            <a:ext cx="3657600" cy="914401"/>
          </a:xfrm>
          <a:prstGeom prst="roundRect">
            <a:avLst>
              <a:gd name="adj" fmla="val 8000"/>
            </a:avLst>
          </a:prstGeom>
          <a:solidFill>
            <a:srgbClr val="F4F6F8"/>
          </a:solidFill>
          <a:ln w="12700">
            <a:solidFill>
              <a:srgbClr val="E3DDD3"/>
            </a:solidFill>
          </a:ln>
        </p:spPr>
        <p:txBody>
          <a:bodyPr lIns="45719" rIns="45719"/>
          <a:lstStyle/>
          <a:p>
            <a:pPr/>
          </a:p>
        </p:txBody>
      </p:sp>
      <p:sp>
        <p:nvSpPr>
          <p:cNvPr id="33" name="Text 7"/>
          <p:cNvSpPr txBox="1"/>
          <p:nvPr/>
        </p:nvSpPr>
        <p:spPr>
          <a:xfrm>
            <a:off x="8046720" y="3776472"/>
            <a:ext cx="1097280" cy="548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065A82"/>
                </a:solidFill>
                <a:latin typeface="Roboto"/>
                <a:ea typeface="Roboto"/>
                <a:cs typeface="Roboto"/>
                <a:sym typeface="Roboto"/>
              </a:defRPr>
            </a:lvl1pPr>
          </a:lstStyle>
          <a:p>
            <a:pPr/>
            <a:r>
              <a:t>24</a:t>
            </a:r>
          </a:p>
        </p:txBody>
      </p:sp>
      <p:sp>
        <p:nvSpPr>
          <p:cNvPr id="34" name="Text 8"/>
          <p:cNvSpPr txBox="1"/>
          <p:nvPr/>
        </p:nvSpPr>
        <p:spPr>
          <a:xfrm>
            <a:off x="9235439" y="3903472"/>
            <a:ext cx="2011681"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5B6472"/>
                </a:solidFill>
                <a:latin typeface="Roboto"/>
                <a:ea typeface="Roboto"/>
                <a:cs typeface="Roboto"/>
                <a:sym typeface="Roboto"/>
              </a:defRPr>
            </a:lvl1pPr>
          </a:lstStyle>
          <a:p>
            <a:pPr/>
            <a:r>
              <a:t>years of data (2000-2023)</a:t>
            </a:r>
          </a:p>
        </p:txBody>
      </p:sp>
      <p:sp>
        <p:nvSpPr>
          <p:cNvPr id="35" name="Shape 9"/>
          <p:cNvSpPr/>
          <p:nvPr/>
        </p:nvSpPr>
        <p:spPr>
          <a:xfrm>
            <a:off x="7772400" y="4754879"/>
            <a:ext cx="3657600" cy="914401"/>
          </a:xfrm>
          <a:prstGeom prst="roundRect">
            <a:avLst>
              <a:gd name="adj" fmla="val 8000"/>
            </a:avLst>
          </a:prstGeom>
          <a:solidFill>
            <a:srgbClr val="F4F6F8"/>
          </a:solidFill>
          <a:ln w="12700">
            <a:solidFill>
              <a:srgbClr val="E3DDD3"/>
            </a:solidFill>
          </a:ln>
        </p:spPr>
        <p:txBody>
          <a:bodyPr lIns="45719" rIns="45719"/>
          <a:lstStyle/>
          <a:p>
            <a:pPr/>
          </a:p>
        </p:txBody>
      </p:sp>
      <p:sp>
        <p:nvSpPr>
          <p:cNvPr id="36" name="Text 10"/>
          <p:cNvSpPr txBox="1"/>
          <p:nvPr/>
        </p:nvSpPr>
        <p:spPr>
          <a:xfrm>
            <a:off x="8046720" y="4919472"/>
            <a:ext cx="1097280" cy="548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065A82"/>
                </a:solidFill>
                <a:latin typeface="Roboto"/>
                <a:ea typeface="Roboto"/>
                <a:cs typeface="Roboto"/>
                <a:sym typeface="Roboto"/>
              </a:defRPr>
            </a:lvl1pPr>
          </a:lstStyle>
          <a:p>
            <a:pPr/>
            <a:r>
              <a:t>11</a:t>
            </a:r>
          </a:p>
        </p:txBody>
      </p:sp>
      <p:sp>
        <p:nvSpPr>
          <p:cNvPr id="37" name="Text 11"/>
          <p:cNvSpPr txBox="1"/>
          <p:nvPr/>
        </p:nvSpPr>
        <p:spPr>
          <a:xfrm>
            <a:off x="9235439" y="4944872"/>
            <a:ext cx="201168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5B6472"/>
                </a:solidFill>
                <a:latin typeface="Roboto"/>
                <a:ea typeface="Roboto"/>
                <a:cs typeface="Roboto"/>
                <a:sym typeface="Roboto"/>
              </a:defRPr>
            </a:lvl1pPr>
          </a:lstStyle>
          <a:p>
            <a:pPr/>
            <a:r>
              <a:t>independent variables tested</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 name="Text 0"/>
          <p:cNvSpPr txBox="1"/>
          <p:nvPr/>
        </p:nvSpPr>
        <p:spPr>
          <a:xfrm>
            <a:off x="685800" y="440690"/>
            <a:ext cx="722376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400">
                <a:solidFill>
                  <a:srgbClr val="C1611D"/>
                </a:solidFill>
                <a:latin typeface="Roboto"/>
                <a:ea typeface="Roboto"/>
                <a:cs typeface="Roboto"/>
                <a:sym typeface="Roboto"/>
              </a:defRPr>
            </a:lvl1pPr>
          </a:lstStyle>
          <a:p>
            <a:pPr/>
            <a:r>
              <a:t>APPROACH TAKEN</a:t>
            </a:r>
          </a:p>
        </p:txBody>
      </p:sp>
      <p:sp>
        <p:nvSpPr>
          <p:cNvPr id="40" name="Text 1"/>
          <p:cNvSpPr txBox="1"/>
          <p:nvPr/>
        </p:nvSpPr>
        <p:spPr>
          <a:xfrm>
            <a:off x="685800" y="900430"/>
            <a:ext cx="10789920" cy="485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600">
                <a:solidFill>
                  <a:srgbClr val="1F2430"/>
                </a:solidFill>
                <a:latin typeface="Roboto"/>
                <a:ea typeface="Roboto"/>
                <a:cs typeface="Roboto"/>
                <a:sym typeface="Roboto"/>
              </a:defRPr>
            </a:lvl1pPr>
          </a:lstStyle>
          <a:p>
            <a:pPr/>
            <a:r>
              <a:t>Design choices behind the analysis</a:t>
            </a:r>
          </a:p>
        </p:txBody>
      </p:sp>
      <p:sp>
        <p:nvSpPr>
          <p:cNvPr id="41" name="Shape 2"/>
          <p:cNvSpPr/>
          <p:nvPr/>
        </p:nvSpPr>
        <p:spPr>
          <a:xfrm>
            <a:off x="640080" y="1783079"/>
            <a:ext cx="5257801" cy="932689"/>
          </a:xfrm>
          <a:prstGeom prst="roundRect">
            <a:avLst>
              <a:gd name="adj" fmla="val 6863"/>
            </a:avLst>
          </a:prstGeom>
          <a:solidFill>
            <a:srgbClr val="F4F6F8"/>
          </a:solidFill>
          <a:ln w="12700">
            <a:solidFill>
              <a:srgbClr val="E3DDD3"/>
            </a:solidFill>
          </a:ln>
        </p:spPr>
        <p:txBody>
          <a:bodyPr lIns="45719" rIns="45719"/>
          <a:lstStyle/>
          <a:p>
            <a:pPr/>
          </a:p>
        </p:txBody>
      </p:sp>
      <p:sp>
        <p:nvSpPr>
          <p:cNvPr id="42" name="Shape 3"/>
          <p:cNvSpPr/>
          <p:nvPr/>
        </p:nvSpPr>
        <p:spPr>
          <a:xfrm>
            <a:off x="822960" y="2103120"/>
            <a:ext cx="292609" cy="292609"/>
          </a:xfrm>
          <a:prstGeom prst="ellipse">
            <a:avLst/>
          </a:prstGeom>
          <a:solidFill>
            <a:srgbClr val="065A82"/>
          </a:solidFill>
          <a:ln w="12700">
            <a:miter lim="400000"/>
          </a:ln>
        </p:spPr>
        <p:txBody>
          <a:bodyPr lIns="45719" rIns="45719"/>
          <a:lstStyle/>
          <a:p>
            <a:pPr/>
          </a:p>
        </p:txBody>
      </p:sp>
      <p:sp>
        <p:nvSpPr>
          <p:cNvPr id="43" name="Text 4"/>
          <p:cNvSpPr txBox="1"/>
          <p:nvPr/>
        </p:nvSpPr>
        <p:spPr>
          <a:xfrm>
            <a:off x="868680" y="2102104"/>
            <a:ext cx="201169"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300">
                <a:solidFill>
                  <a:srgbClr val="FFFFFF"/>
                </a:solidFill>
                <a:latin typeface="Roboto"/>
                <a:ea typeface="Roboto"/>
                <a:cs typeface="Roboto"/>
                <a:sym typeface="Roboto"/>
              </a:defRPr>
            </a:lvl1pPr>
          </a:lstStyle>
          <a:p>
            <a:pPr/>
            <a:r>
              <a:t>1</a:t>
            </a:r>
          </a:p>
        </p:txBody>
      </p:sp>
      <p:sp>
        <p:nvSpPr>
          <p:cNvPr id="44" name="Text 5"/>
          <p:cNvSpPr txBox="1"/>
          <p:nvPr/>
        </p:nvSpPr>
        <p:spPr>
          <a:xfrm>
            <a:off x="1280160" y="1903730"/>
            <a:ext cx="4389120"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solidFill>
                  <a:srgbClr val="1F2430"/>
                </a:solidFill>
                <a:latin typeface="Roboto"/>
                <a:ea typeface="Roboto"/>
                <a:cs typeface="Roboto"/>
                <a:sym typeface="Roboto"/>
              </a:defRPr>
            </a:lvl1pPr>
          </a:lstStyle>
          <a:p>
            <a:pPr/>
            <a:r>
              <a:t>Diverging color, not sequential</a:t>
            </a:r>
          </a:p>
        </p:txBody>
      </p:sp>
      <p:sp>
        <p:nvSpPr>
          <p:cNvPr id="45" name="Text 6"/>
          <p:cNvSpPr txBox="1"/>
          <p:nvPr/>
        </p:nvSpPr>
        <p:spPr>
          <a:xfrm>
            <a:off x="1280160" y="2218245"/>
            <a:ext cx="4389120" cy="4464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5000"/>
              </a:lnSpc>
              <a:defRPr sz="1100">
                <a:solidFill>
                  <a:srgbClr val="5B6472"/>
                </a:solidFill>
                <a:latin typeface="Roboto"/>
                <a:ea typeface="Roboto"/>
                <a:cs typeface="Roboto"/>
                <a:sym typeface="Roboto"/>
              </a:defRPr>
            </a:lvl1pPr>
          </a:lstStyle>
          <a:p>
            <a:pPr/>
            <a:r>
              <a:t>Map recolored: orange–blue diverging palette, custom midpoint at 70 years.</a:t>
            </a:r>
          </a:p>
        </p:txBody>
      </p:sp>
      <p:sp>
        <p:nvSpPr>
          <p:cNvPr id="46" name="Shape 7"/>
          <p:cNvSpPr/>
          <p:nvPr/>
        </p:nvSpPr>
        <p:spPr>
          <a:xfrm>
            <a:off x="6263640" y="1783079"/>
            <a:ext cx="5257801" cy="932689"/>
          </a:xfrm>
          <a:prstGeom prst="roundRect">
            <a:avLst>
              <a:gd name="adj" fmla="val 6863"/>
            </a:avLst>
          </a:prstGeom>
          <a:solidFill>
            <a:srgbClr val="F4F6F8"/>
          </a:solidFill>
          <a:ln w="12700">
            <a:solidFill>
              <a:srgbClr val="E3DDD3"/>
            </a:solidFill>
          </a:ln>
        </p:spPr>
        <p:txBody>
          <a:bodyPr lIns="45719" rIns="45719"/>
          <a:lstStyle/>
          <a:p>
            <a:pPr/>
          </a:p>
        </p:txBody>
      </p:sp>
      <p:sp>
        <p:nvSpPr>
          <p:cNvPr id="47" name="Shape 8"/>
          <p:cNvSpPr/>
          <p:nvPr/>
        </p:nvSpPr>
        <p:spPr>
          <a:xfrm>
            <a:off x="6446520" y="2103120"/>
            <a:ext cx="292609" cy="292609"/>
          </a:xfrm>
          <a:prstGeom prst="ellipse">
            <a:avLst/>
          </a:prstGeom>
          <a:solidFill>
            <a:srgbClr val="065A82"/>
          </a:solidFill>
          <a:ln w="12700">
            <a:miter lim="400000"/>
          </a:ln>
        </p:spPr>
        <p:txBody>
          <a:bodyPr lIns="45719" rIns="45719"/>
          <a:lstStyle/>
          <a:p>
            <a:pPr/>
          </a:p>
        </p:txBody>
      </p:sp>
      <p:sp>
        <p:nvSpPr>
          <p:cNvPr id="48" name="Text 9"/>
          <p:cNvSpPr txBox="1"/>
          <p:nvPr/>
        </p:nvSpPr>
        <p:spPr>
          <a:xfrm>
            <a:off x="6492240" y="2102104"/>
            <a:ext cx="201169"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300">
                <a:solidFill>
                  <a:srgbClr val="FFFFFF"/>
                </a:solidFill>
                <a:latin typeface="Roboto"/>
                <a:ea typeface="Roboto"/>
                <a:cs typeface="Roboto"/>
                <a:sym typeface="Roboto"/>
              </a:defRPr>
            </a:lvl1pPr>
          </a:lstStyle>
          <a:p>
            <a:pPr/>
            <a:r>
              <a:t>2</a:t>
            </a:r>
          </a:p>
        </p:txBody>
      </p:sp>
      <p:sp>
        <p:nvSpPr>
          <p:cNvPr id="49" name="Text 10"/>
          <p:cNvSpPr txBox="1"/>
          <p:nvPr/>
        </p:nvSpPr>
        <p:spPr>
          <a:xfrm>
            <a:off x="6903720" y="1903730"/>
            <a:ext cx="4389120"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solidFill>
                  <a:srgbClr val="1F2430"/>
                </a:solidFill>
                <a:latin typeface="Roboto"/>
                <a:ea typeface="Roboto"/>
                <a:cs typeface="Roboto"/>
                <a:sym typeface="Roboto"/>
              </a:defRPr>
            </a:lvl1pPr>
          </a:lstStyle>
          <a:p>
            <a:pPr/>
            <a:r>
              <a:t>Animated by year</a:t>
            </a:r>
          </a:p>
        </p:txBody>
      </p:sp>
      <p:sp>
        <p:nvSpPr>
          <p:cNvPr id="50" name="Text 11"/>
          <p:cNvSpPr txBox="1"/>
          <p:nvPr/>
        </p:nvSpPr>
        <p:spPr>
          <a:xfrm>
            <a:off x="6903720" y="2216715"/>
            <a:ext cx="4389120" cy="44946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5000"/>
              </a:lnSpc>
              <a:defRPr sz="1100">
                <a:solidFill>
                  <a:srgbClr val="5B6472"/>
                </a:solidFill>
                <a:latin typeface="Roboto"/>
                <a:ea typeface="Roboto"/>
                <a:cs typeface="Roboto"/>
                <a:sym typeface="Roboto"/>
              </a:defRPr>
            </a:lvl1pPr>
          </a:lstStyle>
          <a:p>
            <a:pPr/>
            <a:r>
              <a:t>Added Year to the map's Pages shelf so it plays 2000 → 2023, like the motion charts.</a:t>
            </a:r>
          </a:p>
        </p:txBody>
      </p:sp>
      <p:sp>
        <p:nvSpPr>
          <p:cNvPr id="51" name="Shape 12"/>
          <p:cNvSpPr/>
          <p:nvPr/>
        </p:nvSpPr>
        <p:spPr>
          <a:xfrm>
            <a:off x="640080" y="2880360"/>
            <a:ext cx="5257801" cy="932689"/>
          </a:xfrm>
          <a:prstGeom prst="roundRect">
            <a:avLst>
              <a:gd name="adj" fmla="val 6863"/>
            </a:avLst>
          </a:prstGeom>
          <a:solidFill>
            <a:srgbClr val="F4F6F8"/>
          </a:solidFill>
          <a:ln w="12700">
            <a:solidFill>
              <a:srgbClr val="E3DDD3"/>
            </a:solidFill>
          </a:ln>
        </p:spPr>
        <p:txBody>
          <a:bodyPr lIns="45719" rIns="45719"/>
          <a:lstStyle/>
          <a:p>
            <a:pPr/>
          </a:p>
        </p:txBody>
      </p:sp>
      <p:sp>
        <p:nvSpPr>
          <p:cNvPr id="52" name="Shape 13"/>
          <p:cNvSpPr/>
          <p:nvPr/>
        </p:nvSpPr>
        <p:spPr>
          <a:xfrm>
            <a:off x="822960" y="3200399"/>
            <a:ext cx="292609" cy="292610"/>
          </a:xfrm>
          <a:prstGeom prst="ellipse">
            <a:avLst/>
          </a:prstGeom>
          <a:solidFill>
            <a:srgbClr val="065A82"/>
          </a:solidFill>
          <a:ln w="12700">
            <a:miter lim="400000"/>
          </a:ln>
        </p:spPr>
        <p:txBody>
          <a:bodyPr lIns="45719" rIns="45719"/>
          <a:lstStyle/>
          <a:p>
            <a:pPr/>
          </a:p>
        </p:txBody>
      </p:sp>
      <p:sp>
        <p:nvSpPr>
          <p:cNvPr id="53" name="Text 14"/>
          <p:cNvSpPr txBox="1"/>
          <p:nvPr/>
        </p:nvSpPr>
        <p:spPr>
          <a:xfrm>
            <a:off x="868680" y="3199383"/>
            <a:ext cx="201169"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300">
                <a:solidFill>
                  <a:srgbClr val="FFFFFF"/>
                </a:solidFill>
                <a:latin typeface="Roboto"/>
                <a:ea typeface="Roboto"/>
                <a:cs typeface="Roboto"/>
                <a:sym typeface="Roboto"/>
              </a:defRPr>
            </a:lvl1pPr>
          </a:lstStyle>
          <a:p>
            <a:pPr/>
            <a:r>
              <a:t>3</a:t>
            </a:r>
          </a:p>
        </p:txBody>
      </p:sp>
      <p:sp>
        <p:nvSpPr>
          <p:cNvPr id="54" name="Text 15"/>
          <p:cNvSpPr txBox="1"/>
          <p:nvPr/>
        </p:nvSpPr>
        <p:spPr>
          <a:xfrm>
            <a:off x="1280160" y="3001010"/>
            <a:ext cx="4389120" cy="30734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solidFill>
                  <a:srgbClr val="1F2430"/>
                </a:solidFill>
                <a:latin typeface="Roboto"/>
                <a:ea typeface="Roboto"/>
                <a:cs typeface="Roboto"/>
                <a:sym typeface="Roboto"/>
              </a:defRPr>
            </a:lvl1pPr>
          </a:lstStyle>
          <a:p>
            <a:pPr/>
            <a:r>
              <a:t>A third variable, tested first</a:t>
            </a:r>
          </a:p>
        </p:txBody>
      </p:sp>
      <p:sp>
        <p:nvSpPr>
          <p:cNvPr id="55" name="Text 16"/>
          <p:cNvSpPr txBox="1"/>
          <p:nvPr/>
        </p:nvSpPr>
        <p:spPr>
          <a:xfrm>
            <a:off x="1280160" y="3315525"/>
            <a:ext cx="4389120" cy="4464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5000"/>
              </a:lnSpc>
              <a:defRPr sz="1100">
                <a:solidFill>
                  <a:srgbClr val="5B6472"/>
                </a:solidFill>
                <a:latin typeface="Roboto"/>
                <a:ea typeface="Roboto"/>
                <a:cs typeface="Roboto"/>
                <a:sym typeface="Roboto"/>
              </a:defRPr>
            </a:lvl1pPr>
          </a:lstStyle>
          <a:p>
            <a:pPr/>
            <a:r>
              <a:t>Tried a few candidates with a trend line, then added Physicians per 1,000, the tightest fit of the group.</a:t>
            </a:r>
          </a:p>
        </p:txBody>
      </p:sp>
      <p:sp>
        <p:nvSpPr>
          <p:cNvPr id="56" name="Shape 17"/>
          <p:cNvSpPr/>
          <p:nvPr/>
        </p:nvSpPr>
        <p:spPr>
          <a:xfrm>
            <a:off x="6263640" y="2880360"/>
            <a:ext cx="5257801" cy="932689"/>
          </a:xfrm>
          <a:prstGeom prst="roundRect">
            <a:avLst>
              <a:gd name="adj" fmla="val 6863"/>
            </a:avLst>
          </a:prstGeom>
          <a:solidFill>
            <a:srgbClr val="F4F6F8"/>
          </a:solidFill>
          <a:ln w="12700">
            <a:solidFill>
              <a:srgbClr val="E3DDD3"/>
            </a:solidFill>
          </a:ln>
        </p:spPr>
        <p:txBody>
          <a:bodyPr lIns="45719" rIns="45719"/>
          <a:lstStyle/>
          <a:p>
            <a:pPr/>
          </a:p>
        </p:txBody>
      </p:sp>
      <p:sp>
        <p:nvSpPr>
          <p:cNvPr id="57" name="Shape 18"/>
          <p:cNvSpPr/>
          <p:nvPr/>
        </p:nvSpPr>
        <p:spPr>
          <a:xfrm>
            <a:off x="6446520" y="3200399"/>
            <a:ext cx="292609" cy="292610"/>
          </a:xfrm>
          <a:prstGeom prst="ellipse">
            <a:avLst/>
          </a:prstGeom>
          <a:solidFill>
            <a:srgbClr val="065A82"/>
          </a:solidFill>
          <a:ln w="12700">
            <a:miter lim="400000"/>
          </a:ln>
        </p:spPr>
        <p:txBody>
          <a:bodyPr lIns="45719" rIns="45719"/>
          <a:lstStyle/>
          <a:p>
            <a:pPr/>
          </a:p>
        </p:txBody>
      </p:sp>
      <p:sp>
        <p:nvSpPr>
          <p:cNvPr id="58" name="Text 19"/>
          <p:cNvSpPr txBox="1"/>
          <p:nvPr/>
        </p:nvSpPr>
        <p:spPr>
          <a:xfrm>
            <a:off x="6492240" y="3199383"/>
            <a:ext cx="201169"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300">
                <a:solidFill>
                  <a:srgbClr val="FFFFFF"/>
                </a:solidFill>
                <a:latin typeface="Roboto"/>
                <a:ea typeface="Roboto"/>
                <a:cs typeface="Roboto"/>
                <a:sym typeface="Roboto"/>
              </a:defRPr>
            </a:lvl1pPr>
          </a:lstStyle>
          <a:p>
            <a:pPr/>
            <a:r>
              <a:t>4</a:t>
            </a:r>
          </a:p>
        </p:txBody>
      </p:sp>
      <p:sp>
        <p:nvSpPr>
          <p:cNvPr id="59" name="Text 20"/>
          <p:cNvSpPr txBox="1"/>
          <p:nvPr/>
        </p:nvSpPr>
        <p:spPr>
          <a:xfrm>
            <a:off x="6903720" y="3001010"/>
            <a:ext cx="4389120" cy="30734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solidFill>
                  <a:srgbClr val="1F2430"/>
                </a:solidFill>
                <a:latin typeface="Roboto"/>
                <a:ea typeface="Roboto"/>
                <a:cs typeface="Roboto"/>
                <a:sym typeface="Roboto"/>
              </a:defRPr>
            </a:lvl1pPr>
          </a:lstStyle>
          <a:p>
            <a:pPr/>
            <a:r>
              <a:t>One trend line, not seven</a:t>
            </a:r>
          </a:p>
        </p:txBody>
      </p:sp>
      <p:sp>
        <p:nvSpPr>
          <p:cNvPr id="60" name="Text 21"/>
          <p:cNvSpPr txBox="1"/>
          <p:nvPr/>
        </p:nvSpPr>
        <p:spPr>
          <a:xfrm>
            <a:off x="6903720" y="3315525"/>
            <a:ext cx="4389120" cy="4464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5000"/>
              </a:lnSpc>
              <a:defRPr sz="1100">
                <a:solidFill>
                  <a:srgbClr val="5B6472"/>
                </a:solidFill>
                <a:latin typeface="Roboto"/>
                <a:ea typeface="Roboto"/>
                <a:cs typeface="Roboto"/>
                <a:sym typeface="Roboto"/>
              </a:defRPr>
            </a:lvl1pPr>
          </a:lstStyle>
          <a:p>
            <a:pPr/>
            <a:r>
              <a:t>Unchecked Region as a trend-line factor so each chart shows one overall line.</a:t>
            </a:r>
          </a:p>
        </p:txBody>
      </p:sp>
      <p:sp>
        <p:nvSpPr>
          <p:cNvPr id="61" name="Shape 22"/>
          <p:cNvSpPr/>
          <p:nvPr/>
        </p:nvSpPr>
        <p:spPr>
          <a:xfrm>
            <a:off x="640080" y="3977640"/>
            <a:ext cx="5257801" cy="932689"/>
          </a:xfrm>
          <a:prstGeom prst="roundRect">
            <a:avLst>
              <a:gd name="adj" fmla="val 6863"/>
            </a:avLst>
          </a:prstGeom>
          <a:solidFill>
            <a:srgbClr val="F4F6F8"/>
          </a:solidFill>
          <a:ln w="12700">
            <a:solidFill>
              <a:srgbClr val="E3DDD3"/>
            </a:solidFill>
          </a:ln>
        </p:spPr>
        <p:txBody>
          <a:bodyPr lIns="45719" rIns="45719"/>
          <a:lstStyle/>
          <a:p>
            <a:pPr/>
          </a:p>
        </p:txBody>
      </p:sp>
      <p:sp>
        <p:nvSpPr>
          <p:cNvPr id="62" name="Shape 23"/>
          <p:cNvSpPr/>
          <p:nvPr/>
        </p:nvSpPr>
        <p:spPr>
          <a:xfrm>
            <a:off x="822960" y="4297679"/>
            <a:ext cx="292609" cy="292609"/>
          </a:xfrm>
          <a:prstGeom prst="ellipse">
            <a:avLst/>
          </a:prstGeom>
          <a:solidFill>
            <a:srgbClr val="065A82"/>
          </a:solidFill>
          <a:ln w="12700">
            <a:miter lim="400000"/>
          </a:ln>
        </p:spPr>
        <p:txBody>
          <a:bodyPr lIns="45719" rIns="45719"/>
          <a:lstStyle/>
          <a:p>
            <a:pPr/>
          </a:p>
        </p:txBody>
      </p:sp>
      <p:sp>
        <p:nvSpPr>
          <p:cNvPr id="63" name="Text 24"/>
          <p:cNvSpPr txBox="1"/>
          <p:nvPr/>
        </p:nvSpPr>
        <p:spPr>
          <a:xfrm>
            <a:off x="868680" y="4296663"/>
            <a:ext cx="201169"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300">
                <a:solidFill>
                  <a:srgbClr val="FFFFFF"/>
                </a:solidFill>
                <a:latin typeface="Roboto"/>
                <a:ea typeface="Roboto"/>
                <a:cs typeface="Roboto"/>
                <a:sym typeface="Roboto"/>
              </a:defRPr>
            </a:lvl1pPr>
          </a:lstStyle>
          <a:p>
            <a:pPr/>
            <a:r>
              <a:t>5</a:t>
            </a:r>
          </a:p>
        </p:txBody>
      </p:sp>
      <p:sp>
        <p:nvSpPr>
          <p:cNvPr id="64" name="Text 25"/>
          <p:cNvSpPr txBox="1"/>
          <p:nvPr/>
        </p:nvSpPr>
        <p:spPr>
          <a:xfrm>
            <a:off x="1280160" y="4133336"/>
            <a:ext cx="4389120"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solidFill>
                  <a:srgbClr val="1F2430"/>
                </a:solidFill>
                <a:latin typeface="Roboto"/>
                <a:ea typeface="Roboto"/>
                <a:cs typeface="Roboto"/>
                <a:sym typeface="Roboto"/>
              </a:defRPr>
            </a:lvl1pPr>
          </a:lstStyle>
          <a:p>
            <a:pPr/>
            <a:r>
              <a:t>Three dashboards, cross-highlighted</a:t>
            </a:r>
          </a:p>
        </p:txBody>
      </p:sp>
      <p:sp>
        <p:nvSpPr>
          <p:cNvPr id="65" name="Text 26"/>
          <p:cNvSpPr txBox="1"/>
          <p:nvPr/>
        </p:nvSpPr>
        <p:spPr>
          <a:xfrm>
            <a:off x="1280160" y="4507738"/>
            <a:ext cx="4389120"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5000"/>
              </a:lnSpc>
              <a:defRPr sz="1100">
                <a:solidFill>
                  <a:srgbClr val="5B6472"/>
                </a:solidFill>
                <a:latin typeface="Roboto"/>
                <a:ea typeface="Roboto"/>
                <a:cs typeface="Roboto"/>
                <a:sym typeface="Roboto"/>
              </a:defRPr>
            </a:lvl1pPr>
          </a:lstStyle>
          <a:p>
            <a:pPr/>
            <a:r>
              <a:t>Map + charts paired with Highlight Actions set to All Fields.</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7" name="Text 0"/>
          <p:cNvSpPr txBox="1"/>
          <p:nvPr/>
        </p:nvSpPr>
        <p:spPr>
          <a:xfrm>
            <a:off x="685800" y="378459"/>
            <a:ext cx="7223761"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300">
                <a:solidFill>
                  <a:srgbClr val="C1611D"/>
                </a:solidFill>
                <a:latin typeface="Roboto"/>
                <a:ea typeface="Roboto"/>
                <a:cs typeface="Roboto"/>
                <a:sym typeface="Roboto"/>
              </a:defRPr>
            </a:lvl1pPr>
          </a:lstStyle>
          <a:p>
            <a:pPr/>
            <a:r>
              <a:t>VARIABLE 1 · THE MAP</a:t>
            </a:r>
          </a:p>
        </p:txBody>
      </p:sp>
      <p:sp>
        <p:nvSpPr>
          <p:cNvPr id="68" name="Text 1"/>
          <p:cNvSpPr txBox="1"/>
          <p:nvPr/>
        </p:nvSpPr>
        <p:spPr>
          <a:xfrm>
            <a:off x="685800" y="742187"/>
            <a:ext cx="10789920" cy="472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500">
                <a:solidFill>
                  <a:srgbClr val="1F2430"/>
                </a:solidFill>
                <a:latin typeface="Roboto"/>
                <a:ea typeface="Roboto"/>
                <a:cs typeface="Roboto"/>
                <a:sym typeface="Roboto"/>
              </a:defRPr>
            </a:lvl1pPr>
          </a:lstStyle>
          <a:p>
            <a:pPr/>
            <a:r>
              <a:t>A 23-year gap that's slowly closing</a:t>
            </a:r>
          </a:p>
        </p:txBody>
      </p:sp>
      <p:pic>
        <p:nvPicPr>
          <p:cNvPr id="69" name="Image 0" descr="Image 0"/>
          <p:cNvPicPr>
            <a:picLocks noChangeAspect="1"/>
          </p:cNvPicPr>
          <p:nvPr/>
        </p:nvPicPr>
        <p:blipFill>
          <a:blip r:embed="rId2">
            <a:extLst/>
          </a:blip>
          <a:stretch>
            <a:fillRect/>
          </a:stretch>
        </p:blipFill>
        <p:spPr>
          <a:xfrm>
            <a:off x="640080" y="1508760"/>
            <a:ext cx="5074921" cy="2788419"/>
          </a:xfrm>
          <a:prstGeom prst="rect">
            <a:avLst/>
          </a:prstGeom>
          <a:ln w="12700">
            <a:miter lim="400000"/>
          </a:ln>
        </p:spPr>
      </p:pic>
      <p:sp>
        <p:nvSpPr>
          <p:cNvPr id="70" name="Text 2"/>
          <p:cNvSpPr txBox="1"/>
          <p:nvPr/>
        </p:nvSpPr>
        <p:spPr>
          <a:xfrm>
            <a:off x="685799" y="4345438"/>
            <a:ext cx="4983482"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200">
                <a:solidFill>
                  <a:srgbClr val="5B6472"/>
                </a:solidFill>
                <a:latin typeface="Roboto"/>
                <a:ea typeface="Roboto"/>
                <a:cs typeface="Roboto"/>
                <a:sym typeface="Roboto"/>
              </a:defRPr>
            </a:lvl1pPr>
          </a:lstStyle>
          <a:p>
            <a:pPr/>
            <a:r>
              <a:t>2000</a:t>
            </a:r>
          </a:p>
        </p:txBody>
      </p:sp>
      <p:pic>
        <p:nvPicPr>
          <p:cNvPr id="71" name="Image 1" descr="Image 1"/>
          <p:cNvPicPr>
            <a:picLocks noChangeAspect="1"/>
          </p:cNvPicPr>
          <p:nvPr/>
        </p:nvPicPr>
        <p:blipFill>
          <a:blip r:embed="rId3">
            <a:extLst/>
          </a:blip>
          <a:stretch>
            <a:fillRect/>
          </a:stretch>
        </p:blipFill>
        <p:spPr>
          <a:xfrm>
            <a:off x="6035040" y="1508760"/>
            <a:ext cx="5074921" cy="2788419"/>
          </a:xfrm>
          <a:prstGeom prst="rect">
            <a:avLst/>
          </a:prstGeom>
          <a:ln w="12700">
            <a:miter lim="400000"/>
          </a:ln>
        </p:spPr>
      </p:pic>
      <p:sp>
        <p:nvSpPr>
          <p:cNvPr id="72" name="Text 3"/>
          <p:cNvSpPr txBox="1"/>
          <p:nvPr/>
        </p:nvSpPr>
        <p:spPr>
          <a:xfrm>
            <a:off x="6080760" y="4345438"/>
            <a:ext cx="4983481"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200">
                <a:solidFill>
                  <a:srgbClr val="5B6472"/>
                </a:solidFill>
                <a:latin typeface="Roboto"/>
                <a:ea typeface="Roboto"/>
                <a:cs typeface="Roboto"/>
                <a:sym typeface="Roboto"/>
              </a:defRPr>
            </a:lvl1pPr>
          </a:lstStyle>
          <a:p>
            <a:pPr/>
            <a:r>
              <a:t>2023</a:t>
            </a:r>
          </a:p>
        </p:txBody>
      </p:sp>
      <p:sp>
        <p:nvSpPr>
          <p:cNvPr id="73" name="Shape 4"/>
          <p:cNvSpPr/>
          <p:nvPr/>
        </p:nvSpPr>
        <p:spPr>
          <a:xfrm>
            <a:off x="640080" y="4754378"/>
            <a:ext cx="10927081" cy="1051561"/>
          </a:xfrm>
          <a:prstGeom prst="roundRect">
            <a:avLst>
              <a:gd name="adj" fmla="val 5217"/>
            </a:avLst>
          </a:prstGeom>
          <a:solidFill>
            <a:srgbClr val="F4F6F8"/>
          </a:solidFill>
          <a:ln w="12700">
            <a:solidFill>
              <a:srgbClr val="E3DDD3"/>
            </a:solidFill>
          </a:ln>
        </p:spPr>
        <p:txBody>
          <a:bodyPr lIns="45719" rIns="45719"/>
          <a:lstStyle/>
          <a:p>
            <a:pPr/>
          </a:p>
        </p:txBody>
      </p:sp>
      <p:sp>
        <p:nvSpPr>
          <p:cNvPr id="74" name="Text 5"/>
          <p:cNvSpPr txBox="1"/>
          <p:nvPr/>
        </p:nvSpPr>
        <p:spPr>
          <a:xfrm>
            <a:off x="886968" y="4918143"/>
            <a:ext cx="10433304"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200">
                <a:solidFill>
                  <a:srgbClr val="C1611D"/>
                </a:solidFill>
                <a:latin typeface="Roboto"/>
                <a:ea typeface="Roboto"/>
                <a:cs typeface="Roboto"/>
                <a:sym typeface="Roboto"/>
              </a:defRPr>
            </a:lvl1pPr>
          </a:lstStyle>
          <a:p>
            <a:pPr/>
            <a:r>
              <a:t>READING THE MAP</a:t>
            </a:r>
          </a:p>
        </p:txBody>
      </p:sp>
      <p:sp>
        <p:nvSpPr>
          <p:cNvPr id="75" name="Text 6"/>
          <p:cNvSpPr txBox="1"/>
          <p:nvPr/>
        </p:nvSpPr>
        <p:spPr>
          <a:xfrm>
            <a:off x="886968" y="5169667"/>
            <a:ext cx="10433304" cy="48615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2000"/>
              </a:lnSpc>
              <a:defRPr sz="1200">
                <a:solidFill>
                  <a:srgbClr val="1F2430"/>
                </a:solidFill>
                <a:latin typeface="Roboto"/>
                <a:ea typeface="Roboto"/>
                <a:cs typeface="Roboto"/>
                <a:sym typeface="Roboto"/>
              </a:defRPr>
            </a:lvl1pPr>
          </a:lstStyle>
          <a:p>
            <a:pPr/>
            <a:r>
              <a:t>Orange is below the 70-year midpoint, blue is above it. Most of South and Southeast Asia crosses into blue by 2023. Sub-Saharan Africa is the one region that mostly hasn't. A sequential scale would have hidden this; it would just look like a lighter shade of the same color.</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7" name="Text 0"/>
          <p:cNvSpPr txBox="1"/>
          <p:nvPr/>
        </p:nvSpPr>
        <p:spPr>
          <a:xfrm>
            <a:off x="685800" y="378459"/>
            <a:ext cx="7223761"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300">
                <a:solidFill>
                  <a:srgbClr val="C1611D"/>
                </a:solidFill>
                <a:latin typeface="Roboto"/>
                <a:ea typeface="Roboto"/>
                <a:cs typeface="Roboto"/>
                <a:sym typeface="Roboto"/>
              </a:defRPr>
            </a:lvl1pPr>
          </a:lstStyle>
          <a:p>
            <a:pPr/>
            <a:r>
              <a:t>VARIABLE 2 · MOTION CHART</a:t>
            </a:r>
          </a:p>
        </p:txBody>
      </p:sp>
      <p:sp>
        <p:nvSpPr>
          <p:cNvPr id="78" name="Text 1"/>
          <p:cNvSpPr txBox="1"/>
          <p:nvPr/>
        </p:nvSpPr>
        <p:spPr>
          <a:xfrm>
            <a:off x="685800" y="742187"/>
            <a:ext cx="10789920" cy="472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500">
                <a:solidFill>
                  <a:srgbClr val="1F2430"/>
                </a:solidFill>
                <a:latin typeface="Roboto"/>
                <a:ea typeface="Roboto"/>
                <a:cs typeface="Roboto"/>
                <a:sym typeface="Roboto"/>
              </a:defRPr>
            </a:lvl1pPr>
          </a:lstStyle>
          <a:p>
            <a:pPr/>
            <a:r>
              <a:t>GDP per capita: strong, but not a straight line</a:t>
            </a:r>
          </a:p>
        </p:txBody>
      </p:sp>
      <p:pic>
        <p:nvPicPr>
          <p:cNvPr id="79" name="Image 0" descr="Image 0"/>
          <p:cNvPicPr>
            <a:picLocks noChangeAspect="1"/>
          </p:cNvPicPr>
          <p:nvPr/>
        </p:nvPicPr>
        <p:blipFill>
          <a:blip r:embed="rId2">
            <a:extLst/>
          </a:blip>
          <a:stretch>
            <a:fillRect/>
          </a:stretch>
        </p:blipFill>
        <p:spPr>
          <a:xfrm>
            <a:off x="640080" y="1463039"/>
            <a:ext cx="5716595" cy="4160522"/>
          </a:xfrm>
          <a:prstGeom prst="rect">
            <a:avLst/>
          </a:prstGeom>
          <a:ln w="12700">
            <a:miter lim="400000"/>
          </a:ln>
        </p:spPr>
      </p:pic>
      <p:sp>
        <p:nvSpPr>
          <p:cNvPr id="80" name="Shape 2"/>
          <p:cNvSpPr/>
          <p:nvPr/>
        </p:nvSpPr>
        <p:spPr>
          <a:xfrm>
            <a:off x="6676714" y="1463039"/>
            <a:ext cx="4844727" cy="1965961"/>
          </a:xfrm>
          <a:prstGeom prst="roundRect">
            <a:avLst>
              <a:gd name="adj" fmla="val 2791"/>
            </a:avLst>
          </a:prstGeom>
          <a:solidFill>
            <a:srgbClr val="F4F6F8"/>
          </a:solidFill>
          <a:ln w="12700">
            <a:solidFill>
              <a:srgbClr val="E3DDD3"/>
            </a:solidFill>
          </a:ln>
        </p:spPr>
        <p:txBody>
          <a:bodyPr lIns="45719" rIns="45719"/>
          <a:lstStyle/>
          <a:p>
            <a:pPr/>
          </a:p>
        </p:txBody>
      </p:sp>
      <p:sp>
        <p:nvSpPr>
          <p:cNvPr id="81" name="Text 3"/>
          <p:cNvSpPr txBox="1"/>
          <p:nvPr/>
        </p:nvSpPr>
        <p:spPr>
          <a:xfrm>
            <a:off x="6923602" y="2079767"/>
            <a:ext cx="4350951"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200">
                <a:solidFill>
                  <a:srgbClr val="C1611D"/>
                </a:solidFill>
                <a:latin typeface="Roboto"/>
                <a:ea typeface="Roboto"/>
                <a:cs typeface="Roboto"/>
                <a:sym typeface="Roboto"/>
              </a:defRPr>
            </a:lvl1pPr>
          </a:lstStyle>
          <a:p>
            <a:pPr/>
            <a:r>
              <a:t>THE PATTERN</a:t>
            </a:r>
          </a:p>
        </p:txBody>
      </p:sp>
      <p:sp>
        <p:nvSpPr>
          <p:cNvPr id="82" name="Text 4"/>
          <p:cNvSpPr txBox="1"/>
          <p:nvPr/>
        </p:nvSpPr>
        <p:spPr>
          <a:xfrm>
            <a:off x="6923601" y="2335530"/>
            <a:ext cx="4350951" cy="48615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2000"/>
              </a:lnSpc>
              <a:defRPr sz="1200">
                <a:solidFill>
                  <a:srgbClr val="1F2430"/>
                </a:solidFill>
                <a:latin typeface="Roboto"/>
                <a:ea typeface="Roboto"/>
                <a:cs typeface="Roboto"/>
                <a:sym typeface="Roboto"/>
              </a:defRPr>
            </a:lvl1pPr>
          </a:lstStyle>
          <a:p>
            <a:pPr/>
            <a:r>
              <a:t>GDP per capita and life expectancy clearly move together, but not in a straight line. The scatter curves, it doesn't run straight.</a:t>
            </a:r>
          </a:p>
        </p:txBody>
      </p:sp>
      <p:sp>
        <p:nvSpPr>
          <p:cNvPr id="83" name="Shape 5"/>
          <p:cNvSpPr/>
          <p:nvPr/>
        </p:nvSpPr>
        <p:spPr>
          <a:xfrm>
            <a:off x="6676714" y="3566159"/>
            <a:ext cx="4844727" cy="2057401"/>
          </a:xfrm>
          <a:prstGeom prst="roundRect">
            <a:avLst>
              <a:gd name="adj" fmla="val 2667"/>
            </a:avLst>
          </a:prstGeom>
          <a:solidFill>
            <a:srgbClr val="F4F6F8"/>
          </a:solidFill>
          <a:ln w="12700">
            <a:solidFill>
              <a:srgbClr val="E3DDD3"/>
            </a:solidFill>
          </a:ln>
        </p:spPr>
        <p:txBody>
          <a:bodyPr lIns="45719" rIns="45719"/>
          <a:lstStyle/>
          <a:p>
            <a:pPr/>
          </a:p>
        </p:txBody>
      </p:sp>
      <p:sp>
        <p:nvSpPr>
          <p:cNvPr id="84" name="Text 6"/>
          <p:cNvSpPr txBox="1"/>
          <p:nvPr/>
        </p:nvSpPr>
        <p:spPr>
          <a:xfrm>
            <a:off x="6923602" y="4032708"/>
            <a:ext cx="4350951"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200">
                <a:solidFill>
                  <a:srgbClr val="C1611D"/>
                </a:solidFill>
                <a:latin typeface="Roboto"/>
                <a:ea typeface="Roboto"/>
                <a:cs typeface="Roboto"/>
                <a:sym typeface="Roboto"/>
              </a:defRPr>
            </a:lvl1pPr>
          </a:lstStyle>
          <a:p>
            <a:pPr/>
            <a:r>
              <a:t>WHAT IT MEANS</a:t>
            </a:r>
          </a:p>
        </p:txBody>
      </p:sp>
      <p:sp>
        <p:nvSpPr>
          <p:cNvPr id="85" name="Text 7"/>
          <p:cNvSpPr txBox="1"/>
          <p:nvPr/>
        </p:nvSpPr>
        <p:spPr>
          <a:xfrm>
            <a:off x="6923601" y="4267454"/>
            <a:ext cx="4350951" cy="91998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2000"/>
              </a:lnSpc>
              <a:defRPr sz="1200">
                <a:solidFill>
                  <a:srgbClr val="1F2430"/>
                </a:solidFill>
                <a:latin typeface="Roboto"/>
                <a:ea typeface="Roboto"/>
                <a:cs typeface="Roboto"/>
                <a:sym typeface="Roboto"/>
              </a:defRPr>
            </a:lvl1pPr>
          </a:lstStyle>
          <a:p>
            <a:pPr/>
            <a:r>
              <a:t>Life expectancy climbs steeply from $0 to $20K per capita, then flattens. Nations above roughly $40K cluster near 80 to 85 years no matter how much richer they get from there. Classic diminishing returns.</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7" name="Text 0"/>
          <p:cNvSpPr txBox="1"/>
          <p:nvPr/>
        </p:nvSpPr>
        <p:spPr>
          <a:xfrm>
            <a:off x="685800" y="378459"/>
            <a:ext cx="7223761"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300">
                <a:solidFill>
                  <a:srgbClr val="C1611D"/>
                </a:solidFill>
                <a:latin typeface="Roboto"/>
                <a:ea typeface="Roboto"/>
                <a:cs typeface="Roboto"/>
                <a:sym typeface="Roboto"/>
              </a:defRPr>
            </a:lvl1pPr>
          </a:lstStyle>
          <a:p>
            <a:pPr/>
            <a:r>
              <a:t>VARIABLE 3 · MOTION CHART</a:t>
            </a:r>
          </a:p>
        </p:txBody>
      </p:sp>
      <p:sp>
        <p:nvSpPr>
          <p:cNvPr id="88" name="Text 1"/>
          <p:cNvSpPr txBox="1"/>
          <p:nvPr/>
        </p:nvSpPr>
        <p:spPr>
          <a:xfrm>
            <a:off x="685800" y="742187"/>
            <a:ext cx="10789920" cy="472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500">
                <a:solidFill>
                  <a:srgbClr val="1F2430"/>
                </a:solidFill>
                <a:latin typeface="Roboto"/>
                <a:ea typeface="Roboto"/>
                <a:cs typeface="Roboto"/>
                <a:sym typeface="Roboto"/>
              </a:defRPr>
            </a:lvl1pPr>
          </a:lstStyle>
          <a:p>
            <a:pPr/>
            <a:r>
              <a:t>Health spending share: necessary, not sufficient</a:t>
            </a:r>
          </a:p>
        </p:txBody>
      </p:sp>
      <p:pic>
        <p:nvPicPr>
          <p:cNvPr id="89" name="Image 0" descr="Image 0"/>
          <p:cNvPicPr>
            <a:picLocks noChangeAspect="1"/>
          </p:cNvPicPr>
          <p:nvPr/>
        </p:nvPicPr>
        <p:blipFill>
          <a:blip r:embed="rId2">
            <a:extLst/>
          </a:blip>
          <a:stretch>
            <a:fillRect/>
          </a:stretch>
        </p:blipFill>
        <p:spPr>
          <a:xfrm>
            <a:off x="640080" y="1463039"/>
            <a:ext cx="5495996" cy="4160522"/>
          </a:xfrm>
          <a:prstGeom prst="rect">
            <a:avLst/>
          </a:prstGeom>
          <a:ln w="12700">
            <a:miter lim="400000"/>
          </a:ln>
        </p:spPr>
      </p:pic>
      <p:sp>
        <p:nvSpPr>
          <p:cNvPr id="90" name="Shape 2"/>
          <p:cNvSpPr/>
          <p:nvPr/>
        </p:nvSpPr>
        <p:spPr>
          <a:xfrm>
            <a:off x="6456116" y="1463039"/>
            <a:ext cx="5065325" cy="1554481"/>
          </a:xfrm>
          <a:prstGeom prst="roundRect">
            <a:avLst>
              <a:gd name="adj" fmla="val 3529"/>
            </a:avLst>
          </a:prstGeom>
          <a:solidFill>
            <a:srgbClr val="F4F6F8"/>
          </a:solidFill>
          <a:ln w="12700">
            <a:solidFill>
              <a:srgbClr val="E3DDD3"/>
            </a:solidFill>
          </a:ln>
        </p:spPr>
        <p:txBody>
          <a:bodyPr lIns="45719" rIns="45719"/>
          <a:lstStyle/>
          <a:p>
            <a:pPr/>
          </a:p>
        </p:txBody>
      </p:sp>
      <p:sp>
        <p:nvSpPr>
          <p:cNvPr id="91" name="Text 3"/>
          <p:cNvSpPr txBox="1"/>
          <p:nvPr/>
        </p:nvSpPr>
        <p:spPr>
          <a:xfrm>
            <a:off x="6703003" y="1910040"/>
            <a:ext cx="4571550"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200">
                <a:solidFill>
                  <a:srgbClr val="C1611D"/>
                </a:solidFill>
                <a:latin typeface="Roboto"/>
                <a:ea typeface="Roboto"/>
                <a:cs typeface="Roboto"/>
                <a:sym typeface="Roboto"/>
              </a:defRPr>
            </a:lvl1pPr>
          </a:lstStyle>
          <a:p>
            <a:pPr/>
            <a:r>
              <a:t>THE PATTERN</a:t>
            </a:r>
          </a:p>
        </p:txBody>
      </p:sp>
      <p:sp>
        <p:nvSpPr>
          <p:cNvPr id="92" name="Text 4"/>
          <p:cNvSpPr txBox="1"/>
          <p:nvPr/>
        </p:nvSpPr>
        <p:spPr>
          <a:xfrm>
            <a:off x="6703004" y="2129790"/>
            <a:ext cx="4571549" cy="48615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2000"/>
              </a:lnSpc>
              <a:defRPr sz="1200">
                <a:solidFill>
                  <a:srgbClr val="1F2430"/>
                </a:solidFill>
                <a:latin typeface="Roboto"/>
                <a:ea typeface="Roboto"/>
                <a:cs typeface="Roboto"/>
                <a:sym typeface="Roboto"/>
              </a:defRPr>
            </a:lvl1pPr>
          </a:lstStyle>
          <a:p>
            <a:pPr/>
            <a:r>
              <a:t>The messiest relationship of everything I looked at, barely any consistent pattern.</a:t>
            </a:r>
          </a:p>
        </p:txBody>
      </p:sp>
      <p:sp>
        <p:nvSpPr>
          <p:cNvPr id="93" name="Shape 5"/>
          <p:cNvSpPr/>
          <p:nvPr/>
        </p:nvSpPr>
        <p:spPr>
          <a:xfrm>
            <a:off x="6456116" y="3154679"/>
            <a:ext cx="5065325" cy="2468881"/>
          </a:xfrm>
          <a:prstGeom prst="roundRect">
            <a:avLst>
              <a:gd name="adj" fmla="val 2222"/>
            </a:avLst>
          </a:prstGeom>
          <a:solidFill>
            <a:srgbClr val="F4F6F8"/>
          </a:solidFill>
          <a:ln w="12700">
            <a:solidFill>
              <a:srgbClr val="E3DDD3"/>
            </a:solidFill>
          </a:ln>
        </p:spPr>
        <p:txBody>
          <a:bodyPr lIns="45719" rIns="45719"/>
          <a:lstStyle/>
          <a:p>
            <a:pPr/>
          </a:p>
        </p:txBody>
      </p:sp>
      <p:sp>
        <p:nvSpPr>
          <p:cNvPr id="94" name="Text 6"/>
          <p:cNvSpPr txBox="1"/>
          <p:nvPr/>
        </p:nvSpPr>
        <p:spPr>
          <a:xfrm>
            <a:off x="6703003" y="3813809"/>
            <a:ext cx="4571550"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200">
                <a:solidFill>
                  <a:srgbClr val="C1611D"/>
                </a:solidFill>
                <a:latin typeface="Roboto"/>
                <a:ea typeface="Roboto"/>
                <a:cs typeface="Roboto"/>
                <a:sym typeface="Roboto"/>
              </a:defRPr>
            </a:lvl1pPr>
          </a:lstStyle>
          <a:p>
            <a:pPr/>
            <a:r>
              <a:t>WHAT IT MEANS</a:t>
            </a:r>
          </a:p>
        </p:txBody>
      </p:sp>
      <p:sp>
        <p:nvSpPr>
          <p:cNvPr id="95" name="Text 7"/>
          <p:cNvSpPr txBox="1"/>
          <p:nvPr/>
        </p:nvSpPr>
        <p:spPr>
          <a:xfrm>
            <a:off x="6703004" y="4061714"/>
            <a:ext cx="4571549" cy="91998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2000"/>
              </a:lnSpc>
              <a:defRPr sz="1200">
                <a:solidFill>
                  <a:srgbClr val="1F2430"/>
                </a:solidFill>
                <a:latin typeface="Roboto"/>
                <a:ea typeface="Roboto"/>
                <a:cs typeface="Roboto"/>
                <a:sym typeface="Roboto"/>
              </a:defRPr>
            </a:lvl1pPr>
          </a:lstStyle>
          <a:p>
            <a:pPr/>
            <a:r>
              <a:t>Some countries spend 15 to 20% of GDP on health and still sit in the 60s and 70s. Others spend under 5% and land above 75. Spending share alone doesn't say whether that money is spent well.</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7" name="Text 0"/>
          <p:cNvSpPr txBox="1"/>
          <p:nvPr/>
        </p:nvSpPr>
        <p:spPr>
          <a:xfrm>
            <a:off x="685800" y="378459"/>
            <a:ext cx="7223761"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300">
                <a:solidFill>
                  <a:srgbClr val="C1611D"/>
                </a:solidFill>
                <a:latin typeface="Roboto"/>
                <a:ea typeface="Roboto"/>
                <a:cs typeface="Roboto"/>
                <a:sym typeface="Roboto"/>
              </a:defRPr>
            </a:lvl1pPr>
          </a:lstStyle>
          <a:p>
            <a:pPr/>
            <a:r>
              <a:t>VARIABLE 4 · MOTION CHART</a:t>
            </a:r>
          </a:p>
        </p:txBody>
      </p:sp>
      <p:sp>
        <p:nvSpPr>
          <p:cNvPr id="98" name="Text 1"/>
          <p:cNvSpPr txBox="1"/>
          <p:nvPr/>
        </p:nvSpPr>
        <p:spPr>
          <a:xfrm>
            <a:off x="685800" y="742187"/>
            <a:ext cx="10789920" cy="472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500">
                <a:solidFill>
                  <a:srgbClr val="1F2430"/>
                </a:solidFill>
                <a:latin typeface="Roboto"/>
                <a:ea typeface="Roboto"/>
                <a:cs typeface="Roboto"/>
                <a:sym typeface="Roboto"/>
              </a:defRPr>
            </a:lvl1pPr>
          </a:lstStyle>
          <a:p>
            <a:pPr/>
            <a:r>
              <a:t>Physicians per 1,000: the stronger, quieter driver</a:t>
            </a:r>
          </a:p>
        </p:txBody>
      </p:sp>
      <p:pic>
        <p:nvPicPr>
          <p:cNvPr id="99" name="Image 0" descr="Image 0"/>
          <p:cNvPicPr>
            <a:picLocks noChangeAspect="1"/>
          </p:cNvPicPr>
          <p:nvPr/>
        </p:nvPicPr>
        <p:blipFill>
          <a:blip r:embed="rId2">
            <a:extLst/>
          </a:blip>
          <a:stretch>
            <a:fillRect/>
          </a:stretch>
        </p:blipFill>
        <p:spPr>
          <a:xfrm>
            <a:off x="640080" y="1463039"/>
            <a:ext cx="5675772" cy="4160522"/>
          </a:xfrm>
          <a:prstGeom prst="rect">
            <a:avLst/>
          </a:prstGeom>
          <a:ln w="12700">
            <a:miter lim="400000"/>
          </a:ln>
        </p:spPr>
      </p:pic>
      <p:sp>
        <p:nvSpPr>
          <p:cNvPr id="100" name="Shape 2"/>
          <p:cNvSpPr/>
          <p:nvPr/>
        </p:nvSpPr>
        <p:spPr>
          <a:xfrm>
            <a:off x="6635891" y="1463039"/>
            <a:ext cx="4885550" cy="1554481"/>
          </a:xfrm>
          <a:prstGeom prst="roundRect">
            <a:avLst>
              <a:gd name="adj" fmla="val 3529"/>
            </a:avLst>
          </a:prstGeom>
          <a:solidFill>
            <a:srgbClr val="F4F6F8"/>
          </a:solidFill>
          <a:ln w="12700">
            <a:solidFill>
              <a:srgbClr val="E3DDD3"/>
            </a:solidFill>
          </a:ln>
        </p:spPr>
        <p:txBody>
          <a:bodyPr lIns="45719" rIns="45719"/>
          <a:lstStyle/>
          <a:p>
            <a:pPr/>
          </a:p>
        </p:txBody>
      </p:sp>
      <p:sp>
        <p:nvSpPr>
          <p:cNvPr id="101" name="Text 3"/>
          <p:cNvSpPr txBox="1"/>
          <p:nvPr/>
        </p:nvSpPr>
        <p:spPr>
          <a:xfrm>
            <a:off x="6882778" y="1776094"/>
            <a:ext cx="4391774"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200">
                <a:solidFill>
                  <a:srgbClr val="C1611D"/>
                </a:solidFill>
                <a:latin typeface="Roboto"/>
                <a:ea typeface="Roboto"/>
                <a:cs typeface="Roboto"/>
                <a:sym typeface="Roboto"/>
              </a:defRPr>
            </a:lvl1pPr>
          </a:lstStyle>
          <a:p>
            <a:pPr/>
            <a:r>
              <a:t>THE PATTERN</a:t>
            </a:r>
          </a:p>
        </p:txBody>
      </p:sp>
      <p:sp>
        <p:nvSpPr>
          <p:cNvPr id="102" name="Text 4"/>
          <p:cNvSpPr txBox="1"/>
          <p:nvPr/>
        </p:nvSpPr>
        <p:spPr>
          <a:xfrm>
            <a:off x="6882778" y="2021332"/>
            <a:ext cx="4391774" cy="70307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2000"/>
              </a:lnSpc>
              <a:defRPr sz="1200">
                <a:solidFill>
                  <a:srgbClr val="1F2430"/>
                </a:solidFill>
                <a:latin typeface="Roboto"/>
                <a:ea typeface="Roboto"/>
                <a:cs typeface="Roboto"/>
                <a:sym typeface="Roboto"/>
              </a:defRPr>
            </a:lvl1pPr>
          </a:lstStyle>
          <a:p>
            <a:pPr/>
            <a:r>
              <a:t>Tracks life expectancy far more closely than health-expenditure share does. Points sit much tighter around the trend line than they did on the spending chart.</a:t>
            </a:r>
          </a:p>
        </p:txBody>
      </p:sp>
      <p:sp>
        <p:nvSpPr>
          <p:cNvPr id="103" name="Shape 5"/>
          <p:cNvSpPr/>
          <p:nvPr/>
        </p:nvSpPr>
        <p:spPr>
          <a:xfrm>
            <a:off x="6635891" y="3154679"/>
            <a:ext cx="4885550" cy="2468881"/>
          </a:xfrm>
          <a:prstGeom prst="roundRect">
            <a:avLst>
              <a:gd name="adj" fmla="val 2222"/>
            </a:avLst>
          </a:prstGeom>
          <a:solidFill>
            <a:srgbClr val="F4F6F8"/>
          </a:solidFill>
          <a:ln w="12700">
            <a:solidFill>
              <a:srgbClr val="E3DDD3"/>
            </a:solidFill>
          </a:ln>
        </p:spPr>
        <p:txBody>
          <a:bodyPr lIns="45719" rIns="45719"/>
          <a:lstStyle/>
          <a:p>
            <a:pPr/>
          </a:p>
        </p:txBody>
      </p:sp>
      <p:sp>
        <p:nvSpPr>
          <p:cNvPr id="104" name="Text 6"/>
          <p:cNvSpPr txBox="1"/>
          <p:nvPr/>
        </p:nvSpPr>
        <p:spPr>
          <a:xfrm>
            <a:off x="6882779" y="3813809"/>
            <a:ext cx="4391774"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200">
                <a:solidFill>
                  <a:srgbClr val="C1611D"/>
                </a:solidFill>
                <a:latin typeface="Roboto"/>
                <a:ea typeface="Roboto"/>
                <a:cs typeface="Roboto"/>
                <a:sym typeface="Roboto"/>
              </a:defRPr>
            </a:lvl1pPr>
          </a:lstStyle>
          <a:p>
            <a:pPr/>
            <a:r>
              <a:t>WHY IT MATTERS</a:t>
            </a:r>
          </a:p>
        </p:txBody>
      </p:sp>
      <p:sp>
        <p:nvSpPr>
          <p:cNvPr id="105" name="Text 7"/>
          <p:cNvSpPr txBox="1"/>
          <p:nvPr/>
        </p:nvSpPr>
        <p:spPr>
          <a:xfrm>
            <a:off x="6882778" y="4061714"/>
            <a:ext cx="4391774" cy="91998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2000"/>
              </a:lnSpc>
              <a:defRPr sz="1200">
                <a:solidFill>
                  <a:srgbClr val="1F2430"/>
                </a:solidFill>
                <a:latin typeface="Roboto"/>
                <a:ea typeface="Roboto"/>
                <a:cs typeface="Roboto"/>
                <a:sym typeface="Roboto"/>
              </a:defRPr>
            </a:lvl1pPr>
          </a:lstStyle>
          <a:p>
            <a:pPr/>
            <a:r>
              <a:t>Chosen after testing candidates instead of guessing. Next to the spending-share slide, it suggests how a country spends on healthcare, building out its physician workforce, matters more than how much it spends as a percent of GDP.</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7" name="Text 0"/>
          <p:cNvSpPr txBox="1"/>
          <p:nvPr/>
        </p:nvSpPr>
        <p:spPr>
          <a:xfrm>
            <a:off x="685800" y="378459"/>
            <a:ext cx="7223761"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300">
                <a:solidFill>
                  <a:srgbClr val="C1611D"/>
                </a:solidFill>
                <a:latin typeface="Roboto"/>
                <a:ea typeface="Roboto"/>
                <a:cs typeface="Roboto"/>
                <a:sym typeface="Roboto"/>
              </a:defRPr>
            </a:lvl1pPr>
          </a:lstStyle>
          <a:p>
            <a:pPr/>
            <a:r>
              <a:t>VARIABLE 5 · REGIONAL COMPARISON</a:t>
            </a:r>
          </a:p>
        </p:txBody>
      </p:sp>
      <p:sp>
        <p:nvSpPr>
          <p:cNvPr id="108" name="Text 1"/>
          <p:cNvSpPr txBox="1"/>
          <p:nvPr/>
        </p:nvSpPr>
        <p:spPr>
          <a:xfrm>
            <a:off x="685800" y="742187"/>
            <a:ext cx="10789920" cy="472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500">
                <a:solidFill>
                  <a:srgbClr val="1F2430"/>
                </a:solidFill>
                <a:latin typeface="Roboto"/>
                <a:ea typeface="Roboto"/>
                <a:cs typeface="Roboto"/>
                <a:sym typeface="Roboto"/>
              </a:defRPr>
            </a:lvl1pPr>
          </a:lstStyle>
          <a:p>
            <a:pPr/>
            <a:r>
              <a:t>The regional gap, in one bar chart</a:t>
            </a:r>
          </a:p>
        </p:txBody>
      </p:sp>
      <p:pic>
        <p:nvPicPr>
          <p:cNvPr id="109" name="Image 0" descr="Image 0"/>
          <p:cNvPicPr>
            <a:picLocks noChangeAspect="1"/>
          </p:cNvPicPr>
          <p:nvPr/>
        </p:nvPicPr>
        <p:blipFill>
          <a:blip r:embed="rId2">
            <a:extLst/>
          </a:blip>
          <a:stretch>
            <a:fillRect/>
          </a:stretch>
        </p:blipFill>
        <p:spPr>
          <a:xfrm>
            <a:off x="640080" y="1463039"/>
            <a:ext cx="5403075" cy="3977642"/>
          </a:xfrm>
          <a:prstGeom prst="rect">
            <a:avLst/>
          </a:prstGeom>
          <a:ln w="12700">
            <a:miter lim="400000"/>
          </a:ln>
        </p:spPr>
      </p:pic>
      <p:sp>
        <p:nvSpPr>
          <p:cNvPr id="110" name="Shape 2"/>
          <p:cNvSpPr/>
          <p:nvPr/>
        </p:nvSpPr>
        <p:spPr>
          <a:xfrm>
            <a:off x="6363194" y="1463039"/>
            <a:ext cx="5158247" cy="868681"/>
          </a:xfrm>
          <a:prstGeom prst="roundRect">
            <a:avLst>
              <a:gd name="adj" fmla="val 7368"/>
            </a:avLst>
          </a:prstGeom>
          <a:solidFill>
            <a:srgbClr val="F4F6F8"/>
          </a:solidFill>
          <a:ln w="12700">
            <a:solidFill>
              <a:srgbClr val="E3DDD3"/>
            </a:solidFill>
          </a:ln>
        </p:spPr>
        <p:txBody>
          <a:bodyPr lIns="45719" rIns="45719"/>
          <a:lstStyle/>
          <a:p>
            <a:pPr/>
          </a:p>
        </p:txBody>
      </p:sp>
      <p:sp>
        <p:nvSpPr>
          <p:cNvPr id="111" name="Text 3"/>
          <p:cNvSpPr txBox="1"/>
          <p:nvPr/>
        </p:nvSpPr>
        <p:spPr>
          <a:xfrm>
            <a:off x="6591794" y="1516633"/>
            <a:ext cx="4701047" cy="459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400">
                <a:solidFill>
                  <a:srgbClr val="065A82"/>
                </a:solidFill>
                <a:latin typeface="Roboto"/>
                <a:ea typeface="Roboto"/>
                <a:cs typeface="Roboto"/>
                <a:sym typeface="Roboto"/>
              </a:defRPr>
            </a:lvl1pPr>
          </a:lstStyle>
          <a:p>
            <a:pPr/>
            <a:r>
              <a:t>58.97</a:t>
            </a:r>
          </a:p>
        </p:txBody>
      </p:sp>
      <p:sp>
        <p:nvSpPr>
          <p:cNvPr id="112" name="Text 4"/>
          <p:cNvSpPr txBox="1"/>
          <p:nvPr/>
        </p:nvSpPr>
        <p:spPr>
          <a:xfrm>
            <a:off x="6591794" y="1997710"/>
            <a:ext cx="4701047"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100">
                <a:solidFill>
                  <a:srgbClr val="5B6472"/>
                </a:solidFill>
                <a:latin typeface="Roboto"/>
                <a:ea typeface="Roboto"/>
                <a:cs typeface="Roboto"/>
                <a:sym typeface="Roboto"/>
              </a:defRPr>
            </a:lvl1pPr>
          </a:lstStyle>
          <a:p>
            <a:pPr/>
            <a:r>
              <a:t>Sub-Saharan Africa (lowest)</a:t>
            </a:r>
          </a:p>
        </p:txBody>
      </p:sp>
      <p:sp>
        <p:nvSpPr>
          <p:cNvPr id="113" name="Shape 5"/>
          <p:cNvSpPr/>
          <p:nvPr/>
        </p:nvSpPr>
        <p:spPr>
          <a:xfrm>
            <a:off x="6363194" y="2514600"/>
            <a:ext cx="5158247" cy="868681"/>
          </a:xfrm>
          <a:prstGeom prst="roundRect">
            <a:avLst>
              <a:gd name="adj" fmla="val 7368"/>
            </a:avLst>
          </a:prstGeom>
          <a:solidFill>
            <a:srgbClr val="F4F6F8"/>
          </a:solidFill>
          <a:ln w="12700">
            <a:solidFill>
              <a:srgbClr val="E3DDD3"/>
            </a:solidFill>
          </a:ln>
        </p:spPr>
        <p:txBody>
          <a:bodyPr lIns="45719" rIns="45719"/>
          <a:lstStyle/>
          <a:p>
            <a:pPr/>
          </a:p>
        </p:txBody>
      </p:sp>
      <p:sp>
        <p:nvSpPr>
          <p:cNvPr id="114" name="Text 6"/>
          <p:cNvSpPr txBox="1"/>
          <p:nvPr/>
        </p:nvSpPr>
        <p:spPr>
          <a:xfrm>
            <a:off x="6591794" y="2568194"/>
            <a:ext cx="4701047" cy="459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400">
                <a:solidFill>
                  <a:srgbClr val="065A82"/>
                </a:solidFill>
                <a:latin typeface="Roboto"/>
                <a:ea typeface="Roboto"/>
                <a:cs typeface="Roboto"/>
                <a:sym typeface="Roboto"/>
              </a:defRPr>
            </a:lvl1pPr>
          </a:lstStyle>
          <a:p>
            <a:pPr/>
            <a:r>
              <a:t>79.63</a:t>
            </a:r>
          </a:p>
        </p:txBody>
      </p:sp>
      <p:sp>
        <p:nvSpPr>
          <p:cNvPr id="115" name="Text 7"/>
          <p:cNvSpPr txBox="1"/>
          <p:nvPr/>
        </p:nvSpPr>
        <p:spPr>
          <a:xfrm>
            <a:off x="6591794" y="3049270"/>
            <a:ext cx="4701047"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100">
                <a:solidFill>
                  <a:srgbClr val="5B6472"/>
                </a:solidFill>
                <a:latin typeface="Roboto"/>
                <a:ea typeface="Roboto"/>
                <a:cs typeface="Roboto"/>
                <a:sym typeface="Roboto"/>
              </a:defRPr>
            </a:lvl1pPr>
          </a:lstStyle>
          <a:p>
            <a:pPr/>
            <a:r>
              <a:t>North America (highest)</a:t>
            </a:r>
          </a:p>
        </p:txBody>
      </p:sp>
      <p:sp>
        <p:nvSpPr>
          <p:cNvPr id="116" name="Shape 8"/>
          <p:cNvSpPr/>
          <p:nvPr/>
        </p:nvSpPr>
        <p:spPr>
          <a:xfrm>
            <a:off x="6363194" y="3566159"/>
            <a:ext cx="5158247" cy="868681"/>
          </a:xfrm>
          <a:prstGeom prst="roundRect">
            <a:avLst>
              <a:gd name="adj" fmla="val 7368"/>
            </a:avLst>
          </a:prstGeom>
          <a:solidFill>
            <a:srgbClr val="F4F6F8"/>
          </a:solidFill>
          <a:ln w="12700">
            <a:solidFill>
              <a:srgbClr val="E3DDD3"/>
            </a:solidFill>
          </a:ln>
        </p:spPr>
        <p:txBody>
          <a:bodyPr lIns="45719" rIns="45719"/>
          <a:lstStyle/>
          <a:p>
            <a:pPr/>
          </a:p>
        </p:txBody>
      </p:sp>
      <p:sp>
        <p:nvSpPr>
          <p:cNvPr id="117" name="Text 9"/>
          <p:cNvSpPr txBox="1"/>
          <p:nvPr/>
        </p:nvSpPr>
        <p:spPr>
          <a:xfrm>
            <a:off x="6591794" y="3619753"/>
            <a:ext cx="4701047" cy="459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400">
                <a:solidFill>
                  <a:srgbClr val="065A82"/>
                </a:solidFill>
                <a:latin typeface="Roboto"/>
                <a:ea typeface="Roboto"/>
                <a:cs typeface="Roboto"/>
                <a:sym typeface="Roboto"/>
              </a:defRPr>
            </a:lvl1pPr>
          </a:lstStyle>
          <a:p>
            <a:pPr/>
            <a:r>
              <a:t>20.7 yrs</a:t>
            </a:r>
          </a:p>
        </p:txBody>
      </p:sp>
      <p:sp>
        <p:nvSpPr>
          <p:cNvPr id="118" name="Text 10"/>
          <p:cNvSpPr txBox="1"/>
          <p:nvPr/>
        </p:nvSpPr>
        <p:spPr>
          <a:xfrm>
            <a:off x="6591794" y="4100829"/>
            <a:ext cx="4701047"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100">
                <a:solidFill>
                  <a:srgbClr val="5B6472"/>
                </a:solidFill>
                <a:latin typeface="Roboto"/>
                <a:ea typeface="Roboto"/>
                <a:cs typeface="Roboto"/>
                <a:sym typeface="Roboto"/>
              </a:defRPr>
            </a:lvl1pPr>
          </a:lstStyle>
          <a:p>
            <a:pPr/>
            <a:r>
              <a:t>gap between them</a:t>
            </a:r>
          </a:p>
        </p:txBody>
      </p:sp>
      <p:sp>
        <p:nvSpPr>
          <p:cNvPr id="119" name="Text 11"/>
          <p:cNvSpPr txBox="1"/>
          <p:nvPr/>
        </p:nvSpPr>
        <p:spPr>
          <a:xfrm>
            <a:off x="6408914" y="4923155"/>
            <a:ext cx="5066807" cy="66929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5000"/>
              </a:lnSpc>
              <a:defRPr i="1" sz="1100">
                <a:solidFill>
                  <a:srgbClr val="1F2430"/>
                </a:solidFill>
                <a:latin typeface="Roboto"/>
                <a:ea typeface="Roboto"/>
                <a:cs typeface="Roboto"/>
                <a:sym typeface="Roboto"/>
              </a:defRPr>
            </a:lvl1pPr>
          </a:lstStyle>
          <a:p>
            <a:pPr/>
            <a:r>
              <a:t>At the country level in 2023: Monaco (86.4), San Marino (85.7) and Hong Kong (85.2) lead; Nigeria (54.5), Chad (55.1) and Lesotho (57.4) trail. That's a spread of about 32 years in a single year.</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1" name="Text 0"/>
          <p:cNvSpPr txBox="1"/>
          <p:nvPr/>
        </p:nvSpPr>
        <p:spPr>
          <a:xfrm>
            <a:off x="685800" y="378459"/>
            <a:ext cx="7223761"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300">
                <a:solidFill>
                  <a:srgbClr val="C1611D"/>
                </a:solidFill>
                <a:latin typeface="Roboto"/>
                <a:ea typeface="Roboto"/>
                <a:cs typeface="Roboto"/>
                <a:sym typeface="Roboto"/>
              </a:defRPr>
            </a:lvl1pPr>
          </a:lstStyle>
          <a:p>
            <a:pPr/>
            <a:r>
              <a:t>VARIABLE 6 · TREND OVER TIME</a:t>
            </a:r>
          </a:p>
        </p:txBody>
      </p:sp>
      <p:sp>
        <p:nvSpPr>
          <p:cNvPr id="122" name="Text 1"/>
          <p:cNvSpPr txBox="1"/>
          <p:nvPr/>
        </p:nvSpPr>
        <p:spPr>
          <a:xfrm>
            <a:off x="685800" y="742187"/>
            <a:ext cx="10789920" cy="472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500">
                <a:solidFill>
                  <a:srgbClr val="1F2430"/>
                </a:solidFill>
                <a:latin typeface="Roboto"/>
                <a:ea typeface="Roboto"/>
                <a:cs typeface="Roboto"/>
                <a:sym typeface="Roboto"/>
              </a:defRPr>
            </a:lvl1pPr>
          </a:lstStyle>
          <a:p>
            <a:pPr/>
            <a:r>
              <a:t>Steady progress, then a visible dip</a:t>
            </a:r>
          </a:p>
        </p:txBody>
      </p:sp>
      <p:pic>
        <p:nvPicPr>
          <p:cNvPr id="123" name="Image 0" descr="Image 0"/>
          <p:cNvPicPr>
            <a:picLocks noChangeAspect="1"/>
          </p:cNvPicPr>
          <p:nvPr/>
        </p:nvPicPr>
        <p:blipFill>
          <a:blip r:embed="rId2">
            <a:extLst/>
          </a:blip>
          <a:stretch>
            <a:fillRect/>
          </a:stretch>
        </p:blipFill>
        <p:spPr>
          <a:xfrm>
            <a:off x="640080" y="1463039"/>
            <a:ext cx="10927081" cy="5203373"/>
          </a:xfrm>
          <a:prstGeom prst="rect">
            <a:avLst/>
          </a:prstGeom>
          <a:ln w="12700">
            <a:miter lim="400000"/>
          </a:ln>
        </p:spPr>
      </p:pic>
      <p:sp>
        <p:nvSpPr>
          <p:cNvPr id="124" name="Shape 2"/>
          <p:cNvSpPr/>
          <p:nvPr/>
        </p:nvSpPr>
        <p:spPr>
          <a:xfrm>
            <a:off x="640080" y="6895010"/>
            <a:ext cx="10927081" cy="1234441"/>
          </a:xfrm>
          <a:prstGeom prst="roundRect">
            <a:avLst>
              <a:gd name="adj" fmla="val 4444"/>
            </a:avLst>
          </a:prstGeom>
          <a:solidFill>
            <a:srgbClr val="F4F6F8"/>
          </a:solidFill>
          <a:ln w="12700">
            <a:solidFill>
              <a:srgbClr val="E3DDD3"/>
            </a:solidFill>
          </a:ln>
        </p:spPr>
        <p:txBody>
          <a:bodyPr lIns="45719" rIns="45719"/>
          <a:lstStyle/>
          <a:p>
            <a:pPr/>
          </a:p>
        </p:txBody>
      </p:sp>
      <p:sp>
        <p:nvSpPr>
          <p:cNvPr id="125" name="Text 3"/>
          <p:cNvSpPr txBox="1"/>
          <p:nvPr/>
        </p:nvSpPr>
        <p:spPr>
          <a:xfrm>
            <a:off x="886968" y="7007279"/>
            <a:ext cx="10433304"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200">
                <a:solidFill>
                  <a:srgbClr val="C1611D"/>
                </a:solidFill>
                <a:latin typeface="Roboto"/>
                <a:ea typeface="Roboto"/>
                <a:cs typeface="Roboto"/>
                <a:sym typeface="Roboto"/>
              </a:defRPr>
            </a:lvl1pPr>
          </a:lstStyle>
          <a:p>
            <a:pPr/>
            <a:r>
              <a:t>READING THE TREND</a:t>
            </a:r>
          </a:p>
        </p:txBody>
      </p:sp>
      <p:sp>
        <p:nvSpPr>
          <p:cNvPr id="126" name="Text 4"/>
          <p:cNvSpPr txBox="1"/>
          <p:nvPr/>
        </p:nvSpPr>
        <p:spPr>
          <a:xfrm>
            <a:off x="886968" y="7401740"/>
            <a:ext cx="10433304" cy="48615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2000"/>
              </a:lnSpc>
              <a:defRPr sz="1200">
                <a:solidFill>
                  <a:srgbClr val="1F2430"/>
                </a:solidFill>
                <a:latin typeface="Roboto"/>
                <a:ea typeface="Roboto"/>
                <a:cs typeface="Roboto"/>
                <a:sym typeface="Roboto"/>
              </a:defRPr>
            </a:lvl1pPr>
          </a:lstStyle>
          <a:p>
            <a:pPr/>
            <a:r>
              <a:t>Global average life expectancy rose from 67.6 years in 2000 to 73.8 in 2023. It's not a straight climb though. Nearly every region dips between 2019 and 2021 (global average fell from 73.0 to 71.8) before recovering by 2022 and 2023, timing that lines up with COVID.</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2" name="Text 0"/>
          <p:cNvSpPr txBox="1"/>
          <p:nvPr/>
        </p:nvSpPr>
        <p:spPr>
          <a:xfrm>
            <a:off x="685800" y="440690"/>
            <a:ext cx="722376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400">
                <a:solidFill>
                  <a:srgbClr val="C1611D"/>
                </a:solidFill>
                <a:latin typeface="Roboto"/>
                <a:ea typeface="Roboto"/>
                <a:cs typeface="Roboto"/>
                <a:sym typeface="Roboto"/>
              </a:defRPr>
            </a:lvl1pPr>
          </a:lstStyle>
          <a:p>
            <a:pPr/>
            <a:r>
              <a:t>FURTHER ANALYSIS</a:t>
            </a:r>
          </a:p>
        </p:txBody>
      </p:sp>
      <p:sp>
        <p:nvSpPr>
          <p:cNvPr id="143" name="Text 1"/>
          <p:cNvSpPr txBox="1"/>
          <p:nvPr/>
        </p:nvSpPr>
        <p:spPr>
          <a:xfrm>
            <a:off x="610919" y="1247648"/>
            <a:ext cx="10789921" cy="472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500">
                <a:solidFill>
                  <a:srgbClr val="1F2430"/>
                </a:solidFill>
                <a:latin typeface="Roboto"/>
                <a:ea typeface="Roboto"/>
                <a:cs typeface="Roboto"/>
                <a:sym typeface="Roboto"/>
              </a:defRPr>
            </a:lvl1pPr>
          </a:lstStyle>
          <a:p>
            <a:pPr/>
            <a:r>
              <a:t>Five more variables worth testing</a:t>
            </a:r>
          </a:p>
        </p:txBody>
      </p:sp>
      <p:sp>
        <p:nvSpPr>
          <p:cNvPr id="144" name="Text 2"/>
          <p:cNvSpPr txBox="1"/>
          <p:nvPr/>
        </p:nvSpPr>
        <p:spPr>
          <a:xfrm>
            <a:off x="647176" y="1812289"/>
            <a:ext cx="9784082" cy="121158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30000"/>
              </a:lnSpc>
              <a:defRPr sz="1500">
                <a:solidFill>
                  <a:srgbClr val="5B6472"/>
                </a:solidFill>
                <a:latin typeface="Roboto"/>
                <a:ea typeface="Roboto"/>
                <a:cs typeface="Roboto"/>
                <a:sym typeface="Roboto"/>
              </a:defRPr>
            </a:lvl1pPr>
          </a:lstStyle>
          <a:p>
            <a:pPr/>
            <a:r>
              <a:t>Beyond physicians per 1,000, I pulled five indicators from the World Bank's World Development Indicators. Variables 1 through 6 came from a dataset I'd already worked with; these five didn't, and full year-by-year coverage isn't available for them the way it is for GDP, health expenditure, and physicians. So each is tested as a single scatter against life expectancy using the most recent year available per country, for the same 215 countries and territories.</a:t>
            </a:r>
          </a:p>
        </p:txBody>
      </p:sp>
      <p:sp>
        <p:nvSpPr>
          <p:cNvPr id="145" name="Shape 3"/>
          <p:cNvSpPr/>
          <p:nvPr/>
        </p:nvSpPr>
        <p:spPr>
          <a:xfrm>
            <a:off x="640080" y="3611879"/>
            <a:ext cx="5120641" cy="457201"/>
          </a:xfrm>
          <a:prstGeom prst="roundRect">
            <a:avLst>
              <a:gd name="adj" fmla="val 12000"/>
            </a:avLst>
          </a:prstGeom>
          <a:solidFill>
            <a:srgbClr val="F4F6F8"/>
          </a:solidFill>
          <a:ln w="12700">
            <a:solidFill>
              <a:srgbClr val="E3DDD3"/>
            </a:solidFill>
          </a:ln>
        </p:spPr>
        <p:txBody>
          <a:bodyPr lIns="45719" rIns="45719"/>
          <a:lstStyle/>
          <a:p>
            <a:pPr/>
          </a:p>
        </p:txBody>
      </p:sp>
      <p:sp>
        <p:nvSpPr>
          <p:cNvPr id="146" name="Text 4"/>
          <p:cNvSpPr txBox="1"/>
          <p:nvPr/>
        </p:nvSpPr>
        <p:spPr>
          <a:xfrm>
            <a:off x="822960" y="3693160"/>
            <a:ext cx="201169"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065A82"/>
                </a:solidFill>
                <a:latin typeface="Roboto"/>
                <a:ea typeface="Roboto"/>
                <a:cs typeface="Roboto"/>
                <a:sym typeface="Roboto"/>
              </a:defRPr>
            </a:lvl1pPr>
          </a:lstStyle>
          <a:p>
            <a:pPr/>
            <a:r>
              <a:t>1</a:t>
            </a:r>
          </a:p>
        </p:txBody>
      </p:sp>
      <p:sp>
        <p:nvSpPr>
          <p:cNvPr id="147" name="Text 5"/>
          <p:cNvSpPr txBox="1"/>
          <p:nvPr/>
        </p:nvSpPr>
        <p:spPr>
          <a:xfrm>
            <a:off x="1188720" y="3693160"/>
            <a:ext cx="438912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1F2430"/>
                </a:solidFill>
                <a:latin typeface="Roboto"/>
                <a:ea typeface="Roboto"/>
                <a:cs typeface="Roboto"/>
                <a:sym typeface="Roboto"/>
              </a:defRPr>
            </a:lvl1pPr>
          </a:lstStyle>
          <a:p>
            <a:pPr/>
            <a:r>
              <a:t>Urban population (% of total)</a:t>
            </a:r>
          </a:p>
        </p:txBody>
      </p:sp>
      <p:sp>
        <p:nvSpPr>
          <p:cNvPr id="148" name="Shape 6"/>
          <p:cNvSpPr/>
          <p:nvPr/>
        </p:nvSpPr>
        <p:spPr>
          <a:xfrm>
            <a:off x="640080" y="4178808"/>
            <a:ext cx="5120641" cy="457201"/>
          </a:xfrm>
          <a:prstGeom prst="roundRect">
            <a:avLst>
              <a:gd name="adj" fmla="val 12000"/>
            </a:avLst>
          </a:prstGeom>
          <a:solidFill>
            <a:srgbClr val="F4F6F8"/>
          </a:solidFill>
          <a:ln w="12700">
            <a:solidFill>
              <a:srgbClr val="E3DDD3"/>
            </a:solidFill>
          </a:ln>
        </p:spPr>
        <p:txBody>
          <a:bodyPr lIns="45719" rIns="45719"/>
          <a:lstStyle/>
          <a:p>
            <a:pPr/>
          </a:p>
        </p:txBody>
      </p:sp>
      <p:sp>
        <p:nvSpPr>
          <p:cNvPr id="149" name="Text 7"/>
          <p:cNvSpPr txBox="1"/>
          <p:nvPr/>
        </p:nvSpPr>
        <p:spPr>
          <a:xfrm>
            <a:off x="822960" y="4260087"/>
            <a:ext cx="201169"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065A82"/>
                </a:solidFill>
                <a:latin typeface="Roboto"/>
                <a:ea typeface="Roboto"/>
                <a:cs typeface="Roboto"/>
                <a:sym typeface="Roboto"/>
              </a:defRPr>
            </a:lvl1pPr>
          </a:lstStyle>
          <a:p>
            <a:pPr/>
            <a:r>
              <a:t>2</a:t>
            </a:r>
          </a:p>
        </p:txBody>
      </p:sp>
      <p:sp>
        <p:nvSpPr>
          <p:cNvPr id="150" name="Text 8"/>
          <p:cNvSpPr txBox="1"/>
          <p:nvPr/>
        </p:nvSpPr>
        <p:spPr>
          <a:xfrm>
            <a:off x="1188720" y="4260087"/>
            <a:ext cx="438912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1F2430"/>
                </a:solidFill>
                <a:latin typeface="Roboto"/>
                <a:ea typeface="Roboto"/>
                <a:cs typeface="Roboto"/>
                <a:sym typeface="Roboto"/>
              </a:defRPr>
            </a:lvl1pPr>
          </a:lstStyle>
          <a:p>
            <a:pPr/>
            <a:r>
              <a:t>Internet users (% of population)</a:t>
            </a:r>
          </a:p>
        </p:txBody>
      </p:sp>
      <p:sp>
        <p:nvSpPr>
          <p:cNvPr id="151" name="Shape 9"/>
          <p:cNvSpPr/>
          <p:nvPr/>
        </p:nvSpPr>
        <p:spPr>
          <a:xfrm>
            <a:off x="640080" y="4745735"/>
            <a:ext cx="5120641" cy="457201"/>
          </a:xfrm>
          <a:prstGeom prst="roundRect">
            <a:avLst>
              <a:gd name="adj" fmla="val 12000"/>
            </a:avLst>
          </a:prstGeom>
          <a:solidFill>
            <a:srgbClr val="F4F6F8"/>
          </a:solidFill>
          <a:ln w="12700">
            <a:solidFill>
              <a:srgbClr val="E3DDD3"/>
            </a:solidFill>
          </a:ln>
        </p:spPr>
        <p:txBody>
          <a:bodyPr lIns="45719" rIns="45719"/>
          <a:lstStyle/>
          <a:p>
            <a:pPr/>
          </a:p>
        </p:txBody>
      </p:sp>
      <p:sp>
        <p:nvSpPr>
          <p:cNvPr id="152" name="Text 10"/>
          <p:cNvSpPr txBox="1"/>
          <p:nvPr/>
        </p:nvSpPr>
        <p:spPr>
          <a:xfrm>
            <a:off x="822960" y="4827016"/>
            <a:ext cx="201169"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065A82"/>
                </a:solidFill>
                <a:latin typeface="Roboto"/>
                <a:ea typeface="Roboto"/>
                <a:cs typeface="Roboto"/>
                <a:sym typeface="Roboto"/>
              </a:defRPr>
            </a:lvl1pPr>
          </a:lstStyle>
          <a:p>
            <a:pPr/>
            <a:r>
              <a:t>3</a:t>
            </a:r>
          </a:p>
        </p:txBody>
      </p:sp>
      <p:sp>
        <p:nvSpPr>
          <p:cNvPr id="153" name="Text 11"/>
          <p:cNvSpPr txBox="1"/>
          <p:nvPr/>
        </p:nvSpPr>
        <p:spPr>
          <a:xfrm>
            <a:off x="1188720" y="4827016"/>
            <a:ext cx="438912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1F2430"/>
                </a:solidFill>
                <a:latin typeface="Roboto"/>
                <a:ea typeface="Roboto"/>
                <a:cs typeface="Roboto"/>
                <a:sym typeface="Roboto"/>
              </a:defRPr>
            </a:lvl1pPr>
          </a:lstStyle>
          <a:p>
            <a:pPr/>
            <a:r>
              <a:t>Unemployment (% of labor force)</a:t>
            </a:r>
          </a:p>
        </p:txBody>
      </p:sp>
      <p:sp>
        <p:nvSpPr>
          <p:cNvPr id="154" name="Shape 12"/>
          <p:cNvSpPr/>
          <p:nvPr/>
        </p:nvSpPr>
        <p:spPr>
          <a:xfrm>
            <a:off x="640080" y="5312664"/>
            <a:ext cx="5120641" cy="457201"/>
          </a:xfrm>
          <a:prstGeom prst="roundRect">
            <a:avLst>
              <a:gd name="adj" fmla="val 12000"/>
            </a:avLst>
          </a:prstGeom>
          <a:solidFill>
            <a:srgbClr val="F4F6F8"/>
          </a:solidFill>
          <a:ln w="12700">
            <a:solidFill>
              <a:srgbClr val="E3DDD3"/>
            </a:solidFill>
          </a:ln>
        </p:spPr>
        <p:txBody>
          <a:bodyPr lIns="45719" rIns="45719"/>
          <a:lstStyle/>
          <a:p>
            <a:pPr/>
          </a:p>
        </p:txBody>
      </p:sp>
      <p:sp>
        <p:nvSpPr>
          <p:cNvPr id="155" name="Text 13"/>
          <p:cNvSpPr txBox="1"/>
          <p:nvPr/>
        </p:nvSpPr>
        <p:spPr>
          <a:xfrm>
            <a:off x="822960" y="5393943"/>
            <a:ext cx="201169"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065A82"/>
                </a:solidFill>
                <a:latin typeface="Roboto"/>
                <a:ea typeface="Roboto"/>
                <a:cs typeface="Roboto"/>
                <a:sym typeface="Roboto"/>
              </a:defRPr>
            </a:lvl1pPr>
          </a:lstStyle>
          <a:p>
            <a:pPr/>
            <a:r>
              <a:t>4</a:t>
            </a:r>
          </a:p>
        </p:txBody>
      </p:sp>
      <p:sp>
        <p:nvSpPr>
          <p:cNvPr id="156" name="Text 14"/>
          <p:cNvSpPr txBox="1"/>
          <p:nvPr/>
        </p:nvSpPr>
        <p:spPr>
          <a:xfrm>
            <a:off x="1188720" y="5393943"/>
            <a:ext cx="438912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1F2430"/>
                </a:solidFill>
                <a:latin typeface="Roboto"/>
                <a:ea typeface="Roboto"/>
                <a:cs typeface="Roboto"/>
                <a:sym typeface="Roboto"/>
              </a:defRPr>
            </a:lvl1pPr>
          </a:lstStyle>
          <a:p>
            <a:pPr/>
            <a:r>
              <a:t>Access to electricity (% of population)</a:t>
            </a:r>
          </a:p>
        </p:txBody>
      </p:sp>
      <p:sp>
        <p:nvSpPr>
          <p:cNvPr id="157" name="Shape 15"/>
          <p:cNvSpPr/>
          <p:nvPr/>
        </p:nvSpPr>
        <p:spPr>
          <a:xfrm>
            <a:off x="640080" y="5879591"/>
            <a:ext cx="5120641" cy="457201"/>
          </a:xfrm>
          <a:prstGeom prst="roundRect">
            <a:avLst>
              <a:gd name="adj" fmla="val 12000"/>
            </a:avLst>
          </a:prstGeom>
          <a:solidFill>
            <a:srgbClr val="F4F6F8"/>
          </a:solidFill>
          <a:ln w="12700">
            <a:solidFill>
              <a:srgbClr val="E3DDD3"/>
            </a:solidFill>
          </a:ln>
        </p:spPr>
        <p:txBody>
          <a:bodyPr lIns="45719" rIns="45719"/>
          <a:lstStyle/>
          <a:p>
            <a:pPr/>
          </a:p>
        </p:txBody>
      </p:sp>
      <p:sp>
        <p:nvSpPr>
          <p:cNvPr id="158" name="Text 16"/>
          <p:cNvSpPr txBox="1"/>
          <p:nvPr/>
        </p:nvSpPr>
        <p:spPr>
          <a:xfrm>
            <a:off x="822960" y="5960872"/>
            <a:ext cx="201169"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065A82"/>
                </a:solidFill>
                <a:latin typeface="Roboto"/>
                <a:ea typeface="Roboto"/>
                <a:cs typeface="Roboto"/>
                <a:sym typeface="Roboto"/>
              </a:defRPr>
            </a:lvl1pPr>
          </a:lstStyle>
          <a:p>
            <a:pPr/>
            <a:r>
              <a:t>5</a:t>
            </a:r>
          </a:p>
        </p:txBody>
      </p:sp>
      <p:sp>
        <p:nvSpPr>
          <p:cNvPr id="159" name="Text 17"/>
          <p:cNvSpPr txBox="1"/>
          <p:nvPr/>
        </p:nvSpPr>
        <p:spPr>
          <a:xfrm>
            <a:off x="1188720" y="5960872"/>
            <a:ext cx="438912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1F2430"/>
                </a:solidFill>
                <a:latin typeface="Roboto"/>
                <a:ea typeface="Roboto"/>
                <a:cs typeface="Roboto"/>
                <a:sym typeface="Roboto"/>
              </a:defRPr>
            </a:lvl1pPr>
          </a:lstStyle>
          <a:p>
            <a:pPr/>
            <a:r>
              <a:t>Population density (people per sq. km)</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1" name="Text 0"/>
          <p:cNvSpPr txBox="1"/>
          <p:nvPr/>
        </p:nvSpPr>
        <p:spPr>
          <a:xfrm>
            <a:off x="685800" y="378459"/>
            <a:ext cx="7223761"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300">
                <a:solidFill>
                  <a:srgbClr val="C1611D"/>
                </a:solidFill>
                <a:latin typeface="Roboto"/>
                <a:ea typeface="Roboto"/>
                <a:cs typeface="Roboto"/>
                <a:sym typeface="Roboto"/>
              </a:defRPr>
            </a:lvl1pPr>
          </a:lstStyle>
          <a:p>
            <a:pPr/>
            <a:r>
              <a:t>VARIABLE 7</a:t>
            </a:r>
          </a:p>
        </p:txBody>
      </p:sp>
      <p:sp>
        <p:nvSpPr>
          <p:cNvPr id="162" name="Text 1"/>
          <p:cNvSpPr txBox="1"/>
          <p:nvPr/>
        </p:nvSpPr>
        <p:spPr>
          <a:xfrm>
            <a:off x="685800" y="748537"/>
            <a:ext cx="10789920" cy="459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400">
                <a:solidFill>
                  <a:srgbClr val="1F2430"/>
                </a:solidFill>
                <a:latin typeface="Roboto"/>
                <a:ea typeface="Roboto"/>
                <a:cs typeface="Roboto"/>
                <a:sym typeface="Roboto"/>
              </a:defRPr>
            </a:lvl1pPr>
          </a:lstStyle>
          <a:p>
            <a:pPr/>
            <a:r>
              <a:t>Urban population: a looser version of the GDP pattern</a:t>
            </a:r>
          </a:p>
        </p:txBody>
      </p:sp>
      <p:pic>
        <p:nvPicPr>
          <p:cNvPr id="163" name="Image 0" descr="Image 0"/>
          <p:cNvPicPr>
            <a:picLocks noChangeAspect="1"/>
          </p:cNvPicPr>
          <p:nvPr/>
        </p:nvPicPr>
        <p:blipFill>
          <a:blip r:embed="rId2">
            <a:extLst/>
          </a:blip>
          <a:stretch>
            <a:fillRect/>
          </a:stretch>
        </p:blipFill>
        <p:spPr>
          <a:xfrm>
            <a:off x="640080" y="1463039"/>
            <a:ext cx="3718939" cy="4160522"/>
          </a:xfrm>
          <a:prstGeom prst="rect">
            <a:avLst/>
          </a:prstGeom>
          <a:ln w="12700">
            <a:miter lim="400000"/>
          </a:ln>
        </p:spPr>
      </p:pic>
      <p:sp>
        <p:nvSpPr>
          <p:cNvPr id="164" name="Shape 2"/>
          <p:cNvSpPr/>
          <p:nvPr/>
        </p:nvSpPr>
        <p:spPr>
          <a:xfrm>
            <a:off x="4679058" y="1463039"/>
            <a:ext cx="6842382" cy="1965961"/>
          </a:xfrm>
          <a:prstGeom prst="roundRect">
            <a:avLst>
              <a:gd name="adj" fmla="val 2791"/>
            </a:avLst>
          </a:prstGeom>
          <a:solidFill>
            <a:srgbClr val="F4F6F8"/>
          </a:solidFill>
          <a:ln w="12700">
            <a:solidFill>
              <a:srgbClr val="E3DDD3"/>
            </a:solidFill>
          </a:ln>
        </p:spPr>
        <p:txBody>
          <a:bodyPr lIns="45719" rIns="45719"/>
          <a:lstStyle/>
          <a:p>
            <a:pPr/>
          </a:p>
        </p:txBody>
      </p:sp>
      <p:sp>
        <p:nvSpPr>
          <p:cNvPr id="165" name="Text 3"/>
          <p:cNvSpPr txBox="1"/>
          <p:nvPr/>
        </p:nvSpPr>
        <p:spPr>
          <a:xfrm>
            <a:off x="4925946" y="2105515"/>
            <a:ext cx="6348607"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200">
                <a:solidFill>
                  <a:srgbClr val="C1611D"/>
                </a:solidFill>
                <a:latin typeface="Roboto"/>
                <a:ea typeface="Roboto"/>
                <a:cs typeface="Roboto"/>
                <a:sym typeface="Roboto"/>
              </a:defRPr>
            </a:lvl1pPr>
          </a:lstStyle>
          <a:p>
            <a:pPr/>
            <a:r>
              <a:t>THE PATTERN</a:t>
            </a:r>
          </a:p>
        </p:txBody>
      </p:sp>
      <p:sp>
        <p:nvSpPr>
          <p:cNvPr id="166" name="Text 4"/>
          <p:cNvSpPr txBox="1"/>
          <p:nvPr/>
        </p:nvSpPr>
        <p:spPr>
          <a:xfrm>
            <a:off x="4925946" y="2335530"/>
            <a:ext cx="6348607" cy="48615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2000"/>
              </a:lnSpc>
              <a:defRPr sz="1200">
                <a:solidFill>
                  <a:srgbClr val="1F2430"/>
                </a:solidFill>
                <a:latin typeface="Roboto"/>
                <a:ea typeface="Roboto"/>
                <a:cs typeface="Roboto"/>
                <a:sym typeface="Roboto"/>
              </a:defRPr>
            </a:lvl1pPr>
          </a:lstStyle>
          <a:p>
            <a:pPr/>
            <a:r>
              <a:t>Countries with a larger urbanized share tend to have higher life expectancy, though looser than GDP's relationship.</a:t>
            </a:r>
          </a:p>
        </p:txBody>
      </p:sp>
      <p:sp>
        <p:nvSpPr>
          <p:cNvPr id="167" name="Shape 5"/>
          <p:cNvSpPr/>
          <p:nvPr/>
        </p:nvSpPr>
        <p:spPr>
          <a:xfrm>
            <a:off x="4679058" y="3566159"/>
            <a:ext cx="6842382" cy="2057401"/>
          </a:xfrm>
          <a:prstGeom prst="roundRect">
            <a:avLst>
              <a:gd name="adj" fmla="val 2667"/>
            </a:avLst>
          </a:prstGeom>
          <a:solidFill>
            <a:srgbClr val="F4F6F8"/>
          </a:solidFill>
          <a:ln w="12700">
            <a:solidFill>
              <a:srgbClr val="E3DDD3"/>
            </a:solidFill>
          </a:ln>
        </p:spPr>
        <p:txBody>
          <a:bodyPr lIns="45719" rIns="45719"/>
          <a:lstStyle/>
          <a:p>
            <a:pPr/>
          </a:p>
        </p:txBody>
      </p:sp>
      <p:sp>
        <p:nvSpPr>
          <p:cNvPr id="168" name="Text 6"/>
          <p:cNvSpPr txBox="1"/>
          <p:nvPr/>
        </p:nvSpPr>
        <p:spPr>
          <a:xfrm>
            <a:off x="4925946" y="4116155"/>
            <a:ext cx="6348607"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200">
                <a:solidFill>
                  <a:srgbClr val="C1611D"/>
                </a:solidFill>
                <a:latin typeface="Roboto"/>
                <a:ea typeface="Roboto"/>
                <a:cs typeface="Roboto"/>
                <a:sym typeface="Roboto"/>
              </a:defRPr>
            </a:lvl1pPr>
          </a:lstStyle>
          <a:p>
            <a:pPr/>
            <a:r>
              <a:t>WHAT IT MEANS</a:t>
            </a:r>
          </a:p>
        </p:txBody>
      </p:sp>
      <p:sp>
        <p:nvSpPr>
          <p:cNvPr id="169" name="Text 7"/>
          <p:cNvSpPr txBox="1"/>
          <p:nvPr/>
        </p:nvSpPr>
        <p:spPr>
          <a:xfrm>
            <a:off x="4925946" y="4375912"/>
            <a:ext cx="6348607" cy="70307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2000"/>
              </a:lnSpc>
              <a:defRPr sz="1200">
                <a:solidFill>
                  <a:srgbClr val="1F2430"/>
                </a:solidFill>
                <a:latin typeface="Roboto"/>
                <a:ea typeface="Roboto"/>
                <a:cs typeface="Roboto"/>
                <a:sym typeface="Roboto"/>
              </a:defRPr>
            </a:lvl1pPr>
          </a:lstStyle>
          <a:p>
            <a:pPr/>
            <a:r>
              <a:t>Mostly rural countries cluster in the 60s. Highly urbanized countries spread from the high 60s to the mid-80s. Urbanization tracks with development generally, but it's a real, independent pattern here.</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 name="Text 0"/>
          <p:cNvSpPr txBox="1"/>
          <p:nvPr/>
        </p:nvSpPr>
        <p:spPr>
          <a:xfrm>
            <a:off x="685800" y="378459"/>
            <a:ext cx="7223761"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300">
                <a:solidFill>
                  <a:srgbClr val="C1611D"/>
                </a:solidFill>
                <a:latin typeface="Roboto"/>
                <a:ea typeface="Roboto"/>
                <a:cs typeface="Roboto"/>
                <a:sym typeface="Roboto"/>
              </a:defRPr>
            </a:lvl1pPr>
          </a:lstStyle>
          <a:p>
            <a:pPr/>
            <a:r>
              <a:t>VARIABLE 8</a:t>
            </a:r>
          </a:p>
        </p:txBody>
      </p:sp>
      <p:sp>
        <p:nvSpPr>
          <p:cNvPr id="172" name="Text 1"/>
          <p:cNvSpPr txBox="1"/>
          <p:nvPr/>
        </p:nvSpPr>
        <p:spPr>
          <a:xfrm>
            <a:off x="685800" y="748537"/>
            <a:ext cx="10789920" cy="459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400">
                <a:solidFill>
                  <a:srgbClr val="1F2430"/>
                </a:solidFill>
                <a:latin typeface="Roboto"/>
                <a:ea typeface="Roboto"/>
                <a:cs typeface="Roboto"/>
                <a:sym typeface="Roboto"/>
              </a:defRPr>
            </a:lvl1pPr>
          </a:lstStyle>
          <a:p>
            <a:pPr/>
            <a:r>
              <a:t>Internet use: the tightest of the five new variables</a:t>
            </a:r>
          </a:p>
        </p:txBody>
      </p:sp>
      <p:pic>
        <p:nvPicPr>
          <p:cNvPr id="173" name="Image 0" descr="Image 0"/>
          <p:cNvPicPr>
            <a:picLocks noChangeAspect="1"/>
          </p:cNvPicPr>
          <p:nvPr/>
        </p:nvPicPr>
        <p:blipFill>
          <a:blip r:embed="rId2">
            <a:extLst/>
          </a:blip>
          <a:stretch>
            <a:fillRect/>
          </a:stretch>
        </p:blipFill>
        <p:spPr>
          <a:xfrm>
            <a:off x="640080" y="1463039"/>
            <a:ext cx="3718939" cy="4160522"/>
          </a:xfrm>
          <a:prstGeom prst="rect">
            <a:avLst/>
          </a:prstGeom>
          <a:ln w="12700">
            <a:miter lim="400000"/>
          </a:ln>
        </p:spPr>
      </p:pic>
      <p:sp>
        <p:nvSpPr>
          <p:cNvPr id="174" name="Shape 2"/>
          <p:cNvSpPr/>
          <p:nvPr/>
        </p:nvSpPr>
        <p:spPr>
          <a:xfrm>
            <a:off x="4679058" y="1463039"/>
            <a:ext cx="6842382" cy="1965961"/>
          </a:xfrm>
          <a:prstGeom prst="roundRect">
            <a:avLst>
              <a:gd name="adj" fmla="val 2791"/>
            </a:avLst>
          </a:prstGeom>
          <a:solidFill>
            <a:srgbClr val="F4F6F8"/>
          </a:solidFill>
          <a:ln w="12700">
            <a:solidFill>
              <a:srgbClr val="E3DDD3"/>
            </a:solidFill>
          </a:ln>
        </p:spPr>
        <p:txBody>
          <a:bodyPr lIns="45719" rIns="45719"/>
          <a:lstStyle/>
          <a:p>
            <a:pPr/>
          </a:p>
        </p:txBody>
      </p:sp>
      <p:sp>
        <p:nvSpPr>
          <p:cNvPr id="175" name="Text 3"/>
          <p:cNvSpPr txBox="1"/>
          <p:nvPr/>
        </p:nvSpPr>
        <p:spPr>
          <a:xfrm>
            <a:off x="4925946" y="2084829"/>
            <a:ext cx="6348607"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200">
                <a:solidFill>
                  <a:srgbClr val="C1611D"/>
                </a:solidFill>
                <a:latin typeface="Roboto"/>
                <a:ea typeface="Roboto"/>
                <a:cs typeface="Roboto"/>
                <a:sym typeface="Roboto"/>
              </a:defRPr>
            </a:lvl1pPr>
          </a:lstStyle>
          <a:p>
            <a:pPr/>
            <a:r>
              <a:t>THE PATTERN</a:t>
            </a:r>
          </a:p>
        </p:txBody>
      </p:sp>
      <p:sp>
        <p:nvSpPr>
          <p:cNvPr id="176" name="Text 4"/>
          <p:cNvSpPr txBox="1"/>
          <p:nvPr/>
        </p:nvSpPr>
        <p:spPr>
          <a:xfrm>
            <a:off x="4925946" y="2335530"/>
            <a:ext cx="6348607" cy="48615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2000"/>
              </a:lnSpc>
              <a:defRPr sz="1200">
                <a:solidFill>
                  <a:srgbClr val="1F2430"/>
                </a:solidFill>
                <a:latin typeface="Roboto"/>
                <a:ea typeface="Roboto"/>
                <a:cs typeface="Roboto"/>
                <a:sym typeface="Roboto"/>
              </a:defRPr>
            </a:lvl1pPr>
          </a:lstStyle>
          <a:p>
            <a:pPr/>
            <a:r>
              <a:t>The cleanest relationship of the five. Low-internet countries sit mostly in the 55-to-70 range; life expectancy climbs steadily as internet use rises.</a:t>
            </a:r>
          </a:p>
        </p:txBody>
      </p:sp>
      <p:sp>
        <p:nvSpPr>
          <p:cNvPr id="177" name="Shape 5"/>
          <p:cNvSpPr/>
          <p:nvPr/>
        </p:nvSpPr>
        <p:spPr>
          <a:xfrm>
            <a:off x="4679058" y="3566159"/>
            <a:ext cx="6842382" cy="2057401"/>
          </a:xfrm>
          <a:prstGeom prst="roundRect">
            <a:avLst>
              <a:gd name="adj" fmla="val 2667"/>
            </a:avLst>
          </a:prstGeom>
          <a:solidFill>
            <a:srgbClr val="F4F6F8"/>
          </a:solidFill>
          <a:ln w="12700">
            <a:solidFill>
              <a:srgbClr val="E3DDD3"/>
            </a:solidFill>
          </a:ln>
        </p:spPr>
        <p:txBody>
          <a:bodyPr lIns="45719" rIns="45719"/>
          <a:lstStyle/>
          <a:p>
            <a:pPr/>
          </a:p>
        </p:txBody>
      </p:sp>
      <p:sp>
        <p:nvSpPr>
          <p:cNvPr id="178" name="Text 6"/>
          <p:cNvSpPr txBox="1"/>
          <p:nvPr/>
        </p:nvSpPr>
        <p:spPr>
          <a:xfrm>
            <a:off x="4925946" y="4218939"/>
            <a:ext cx="6348607"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200">
                <a:solidFill>
                  <a:srgbClr val="C1611D"/>
                </a:solidFill>
                <a:latin typeface="Roboto"/>
                <a:ea typeface="Roboto"/>
                <a:cs typeface="Roboto"/>
                <a:sym typeface="Roboto"/>
              </a:defRPr>
            </a:lvl1pPr>
          </a:lstStyle>
          <a:p>
            <a:pPr/>
            <a:r>
              <a:t>WHAT IT MEANS</a:t>
            </a:r>
          </a:p>
        </p:txBody>
      </p:sp>
      <p:sp>
        <p:nvSpPr>
          <p:cNvPr id="179" name="Text 7"/>
          <p:cNvSpPr txBox="1"/>
          <p:nvPr/>
        </p:nvSpPr>
        <p:spPr>
          <a:xfrm>
            <a:off x="4925946" y="4484370"/>
            <a:ext cx="6348607" cy="48615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2000"/>
              </a:lnSpc>
              <a:defRPr sz="1200">
                <a:solidFill>
                  <a:srgbClr val="1F2430"/>
                </a:solidFill>
                <a:latin typeface="Roboto"/>
                <a:ea typeface="Roboto"/>
                <a:cs typeface="Roboto"/>
                <a:sym typeface="Roboto"/>
              </a:defRPr>
            </a:lvl1pPr>
          </a:lstStyle>
          <a:p>
            <a:pPr/>
            <a:r>
              <a:t>Likely stands in for overall development and infrastructure rather than internet access itself doing the work, but it's the closest fit of anything tested besides GDP.</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1" name="Text 0"/>
          <p:cNvSpPr txBox="1"/>
          <p:nvPr/>
        </p:nvSpPr>
        <p:spPr>
          <a:xfrm>
            <a:off x="685800" y="378459"/>
            <a:ext cx="7223761"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300">
                <a:solidFill>
                  <a:srgbClr val="C1611D"/>
                </a:solidFill>
                <a:latin typeface="Roboto"/>
                <a:ea typeface="Roboto"/>
                <a:cs typeface="Roboto"/>
                <a:sym typeface="Roboto"/>
              </a:defRPr>
            </a:lvl1pPr>
          </a:lstStyle>
          <a:p>
            <a:pPr/>
            <a:r>
              <a:t>VARIABLE 9</a:t>
            </a:r>
          </a:p>
        </p:txBody>
      </p:sp>
      <p:sp>
        <p:nvSpPr>
          <p:cNvPr id="182" name="Text 1"/>
          <p:cNvSpPr txBox="1"/>
          <p:nvPr/>
        </p:nvSpPr>
        <p:spPr>
          <a:xfrm>
            <a:off x="685800" y="748537"/>
            <a:ext cx="10789920" cy="459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400">
                <a:solidFill>
                  <a:srgbClr val="1F2430"/>
                </a:solidFill>
                <a:latin typeface="Roboto"/>
                <a:ea typeface="Roboto"/>
                <a:cs typeface="Roboto"/>
                <a:sym typeface="Roboto"/>
              </a:defRPr>
            </a:lvl1pPr>
          </a:lstStyle>
          <a:p>
            <a:pPr/>
            <a:r>
              <a:t>Unemployment: no real pattern</a:t>
            </a:r>
          </a:p>
        </p:txBody>
      </p:sp>
      <p:pic>
        <p:nvPicPr>
          <p:cNvPr id="183" name="Image 0" descr="Image 0"/>
          <p:cNvPicPr>
            <a:picLocks noChangeAspect="1"/>
          </p:cNvPicPr>
          <p:nvPr/>
        </p:nvPicPr>
        <p:blipFill>
          <a:blip r:embed="rId2">
            <a:extLst/>
          </a:blip>
          <a:stretch>
            <a:fillRect/>
          </a:stretch>
        </p:blipFill>
        <p:spPr>
          <a:xfrm>
            <a:off x="640080" y="1463039"/>
            <a:ext cx="3718939" cy="4160522"/>
          </a:xfrm>
          <a:prstGeom prst="rect">
            <a:avLst/>
          </a:prstGeom>
          <a:ln w="12700">
            <a:miter lim="400000"/>
          </a:ln>
        </p:spPr>
      </p:pic>
      <p:sp>
        <p:nvSpPr>
          <p:cNvPr id="184" name="Shape 2"/>
          <p:cNvSpPr/>
          <p:nvPr/>
        </p:nvSpPr>
        <p:spPr>
          <a:xfrm>
            <a:off x="4679058" y="1463039"/>
            <a:ext cx="6842382" cy="1965961"/>
          </a:xfrm>
          <a:prstGeom prst="roundRect">
            <a:avLst>
              <a:gd name="adj" fmla="val 2791"/>
            </a:avLst>
          </a:prstGeom>
          <a:solidFill>
            <a:srgbClr val="F4F6F8"/>
          </a:solidFill>
          <a:ln w="12700">
            <a:solidFill>
              <a:srgbClr val="E3DDD3"/>
            </a:solidFill>
          </a:ln>
        </p:spPr>
        <p:txBody>
          <a:bodyPr lIns="45719" rIns="45719"/>
          <a:lstStyle/>
          <a:p>
            <a:pPr/>
          </a:p>
        </p:txBody>
      </p:sp>
      <p:sp>
        <p:nvSpPr>
          <p:cNvPr id="185" name="Text 3"/>
          <p:cNvSpPr txBox="1"/>
          <p:nvPr/>
        </p:nvSpPr>
        <p:spPr>
          <a:xfrm>
            <a:off x="4925946" y="2079767"/>
            <a:ext cx="6348607"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200">
                <a:solidFill>
                  <a:srgbClr val="C1611D"/>
                </a:solidFill>
                <a:latin typeface="Roboto"/>
                <a:ea typeface="Roboto"/>
                <a:cs typeface="Roboto"/>
                <a:sym typeface="Roboto"/>
              </a:defRPr>
            </a:lvl1pPr>
          </a:lstStyle>
          <a:p>
            <a:pPr/>
            <a:r>
              <a:t>THE PATTERN</a:t>
            </a:r>
          </a:p>
        </p:txBody>
      </p:sp>
      <p:sp>
        <p:nvSpPr>
          <p:cNvPr id="186" name="Text 4"/>
          <p:cNvSpPr txBox="1"/>
          <p:nvPr/>
        </p:nvSpPr>
        <p:spPr>
          <a:xfrm>
            <a:off x="4925946" y="2335530"/>
            <a:ext cx="6348607" cy="48615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2000"/>
              </a:lnSpc>
              <a:defRPr sz="1200">
                <a:solidFill>
                  <a:srgbClr val="1F2430"/>
                </a:solidFill>
                <a:latin typeface="Roboto"/>
                <a:ea typeface="Roboto"/>
                <a:cs typeface="Roboto"/>
                <a:sym typeface="Roboto"/>
              </a:defRPr>
            </a:lvl1pPr>
          </a:lstStyle>
          <a:p>
            <a:pPr/>
            <a:r>
              <a:t>The weakest of the five. Points scatter fairly evenly across the low-to-middle unemployment range regardless of life expectancy.</a:t>
            </a:r>
          </a:p>
        </p:txBody>
      </p:sp>
      <p:sp>
        <p:nvSpPr>
          <p:cNvPr id="187" name="Shape 5"/>
          <p:cNvSpPr/>
          <p:nvPr/>
        </p:nvSpPr>
        <p:spPr>
          <a:xfrm>
            <a:off x="4679058" y="3566159"/>
            <a:ext cx="6842382" cy="2452021"/>
          </a:xfrm>
          <a:prstGeom prst="roundRect">
            <a:avLst>
              <a:gd name="adj" fmla="val 2667"/>
            </a:avLst>
          </a:prstGeom>
          <a:solidFill>
            <a:srgbClr val="F4F6F8"/>
          </a:solidFill>
          <a:ln w="12700">
            <a:solidFill>
              <a:srgbClr val="E3DDD3"/>
            </a:solidFill>
          </a:ln>
        </p:spPr>
        <p:txBody>
          <a:bodyPr lIns="45719" rIns="45719"/>
          <a:lstStyle/>
          <a:p>
            <a:pPr/>
          </a:p>
        </p:txBody>
      </p:sp>
      <p:sp>
        <p:nvSpPr>
          <p:cNvPr id="188" name="Text 6"/>
          <p:cNvSpPr txBox="1"/>
          <p:nvPr/>
        </p:nvSpPr>
        <p:spPr>
          <a:xfrm>
            <a:off x="4925946" y="4218939"/>
            <a:ext cx="6348607"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200">
                <a:solidFill>
                  <a:srgbClr val="C1611D"/>
                </a:solidFill>
                <a:latin typeface="Roboto"/>
                <a:ea typeface="Roboto"/>
                <a:cs typeface="Roboto"/>
                <a:sym typeface="Roboto"/>
              </a:defRPr>
            </a:lvl1pPr>
          </a:lstStyle>
          <a:p>
            <a:pPr/>
            <a:r>
              <a:t>WHAT IT MEANS</a:t>
            </a:r>
          </a:p>
        </p:txBody>
      </p:sp>
      <p:sp>
        <p:nvSpPr>
          <p:cNvPr id="189" name="Text 7"/>
          <p:cNvSpPr txBox="1"/>
          <p:nvPr/>
        </p:nvSpPr>
        <p:spPr>
          <a:xfrm>
            <a:off x="4925946" y="4518180"/>
            <a:ext cx="6348607" cy="1400000"/>
          </a:xfrm>
          <a:prstGeom prst="rect">
            <a:avLst/>
          </a:prstGeom>
          <a:ln w="12700">
            <a:miter lim="400000"/>
          </a:ln>
          <a:extLst>
            <a:ext uri="{C572A759-6A51-4108-AA02-DFA0A04FC94B}">
              <ma14:wrappingTextBoxFlag xmlns:ma14="http://schemas.microsoft.com/office/mac/drawingml/2011/main" val="1"/>
            </a:ext>
          </a:extLst>
        </p:spPr>
        <p:txBody>
          <a:bodyPr lIns="45719" rIns="45719" anchor="t">
            <a:spAutoFit/>
          </a:bodyPr>
          <a:lstStyle>
            <a:lvl1pPr>
              <a:lnSpc>
                <a:spcPct val="122000"/>
              </a:lnSpc>
              <a:defRPr sz="1200">
                <a:solidFill>
                  <a:srgbClr val="1F2430"/>
                </a:solidFill>
                <a:latin typeface="Roboto"/>
                <a:ea typeface="Roboto"/>
                <a:cs typeface="Roboto"/>
                <a:sym typeface="Roboto"/>
              </a:defRPr>
            </a:lvl1pPr>
          </a:lstStyle>
          <a:p>
            <a:pPr/>
            <a:r>
              <a:t>My guess: official unemployment counts formal job-seekers, so it under-counts joblessness where informal economies are large, and reads as normal background noise in wealthy countries with strong safety nets. It's also a one-year snapshot tied to the business cycle, while life expectancy reflects decades of infrastructure. Different timescales, different economies, same number.</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1" name="Text 0"/>
          <p:cNvSpPr txBox="1"/>
          <p:nvPr/>
        </p:nvSpPr>
        <p:spPr>
          <a:xfrm>
            <a:off x="685800" y="378459"/>
            <a:ext cx="7223761"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300">
                <a:solidFill>
                  <a:srgbClr val="C1611D"/>
                </a:solidFill>
                <a:latin typeface="Roboto"/>
                <a:ea typeface="Roboto"/>
                <a:cs typeface="Roboto"/>
                <a:sym typeface="Roboto"/>
              </a:defRPr>
            </a:lvl1pPr>
          </a:lstStyle>
          <a:p>
            <a:pPr/>
            <a:r>
              <a:t>VARIABLE 10</a:t>
            </a:r>
          </a:p>
        </p:txBody>
      </p:sp>
      <p:sp>
        <p:nvSpPr>
          <p:cNvPr id="192" name="Text 1"/>
          <p:cNvSpPr txBox="1"/>
          <p:nvPr/>
        </p:nvSpPr>
        <p:spPr>
          <a:xfrm>
            <a:off x="685800" y="748537"/>
            <a:ext cx="10789920" cy="459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400">
                <a:solidFill>
                  <a:srgbClr val="1F2430"/>
                </a:solidFill>
                <a:latin typeface="Roboto"/>
                <a:ea typeface="Roboto"/>
                <a:cs typeface="Roboto"/>
                <a:sym typeface="Roboto"/>
              </a:defRPr>
            </a:lvl1pPr>
          </a:lstStyle>
          <a:p>
            <a:pPr/>
            <a:r>
              <a:t>Electricity access: strong, but with a ceiling effect</a:t>
            </a:r>
          </a:p>
        </p:txBody>
      </p:sp>
      <p:pic>
        <p:nvPicPr>
          <p:cNvPr id="193" name="Image 0" descr="Image 0"/>
          <p:cNvPicPr>
            <a:picLocks noChangeAspect="1"/>
          </p:cNvPicPr>
          <p:nvPr/>
        </p:nvPicPr>
        <p:blipFill>
          <a:blip r:embed="rId2">
            <a:extLst/>
          </a:blip>
          <a:stretch>
            <a:fillRect/>
          </a:stretch>
        </p:blipFill>
        <p:spPr>
          <a:xfrm>
            <a:off x="640080" y="1463039"/>
            <a:ext cx="3718939" cy="4160522"/>
          </a:xfrm>
          <a:prstGeom prst="rect">
            <a:avLst/>
          </a:prstGeom>
          <a:ln w="12700">
            <a:miter lim="400000"/>
          </a:ln>
        </p:spPr>
      </p:pic>
      <p:sp>
        <p:nvSpPr>
          <p:cNvPr id="194" name="Shape 2"/>
          <p:cNvSpPr/>
          <p:nvPr/>
        </p:nvSpPr>
        <p:spPr>
          <a:xfrm>
            <a:off x="4679058" y="1463039"/>
            <a:ext cx="6842382" cy="1965961"/>
          </a:xfrm>
          <a:prstGeom prst="roundRect">
            <a:avLst>
              <a:gd name="adj" fmla="val 2791"/>
            </a:avLst>
          </a:prstGeom>
          <a:solidFill>
            <a:srgbClr val="F4F6F8"/>
          </a:solidFill>
          <a:ln w="12700">
            <a:solidFill>
              <a:srgbClr val="E3DDD3"/>
            </a:solidFill>
          </a:ln>
        </p:spPr>
        <p:txBody>
          <a:bodyPr lIns="45719" rIns="45719"/>
          <a:lstStyle/>
          <a:p>
            <a:pPr/>
          </a:p>
        </p:txBody>
      </p:sp>
      <p:sp>
        <p:nvSpPr>
          <p:cNvPr id="195" name="Text 3"/>
          <p:cNvSpPr txBox="1"/>
          <p:nvPr/>
        </p:nvSpPr>
        <p:spPr>
          <a:xfrm>
            <a:off x="4925946" y="2041144"/>
            <a:ext cx="6348607"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200">
                <a:solidFill>
                  <a:srgbClr val="C1611D"/>
                </a:solidFill>
                <a:latin typeface="Roboto"/>
                <a:ea typeface="Roboto"/>
                <a:cs typeface="Roboto"/>
                <a:sym typeface="Roboto"/>
              </a:defRPr>
            </a:lvl1pPr>
          </a:lstStyle>
          <a:p>
            <a:pPr/>
            <a:r>
              <a:t>THE PATTERN</a:t>
            </a:r>
          </a:p>
        </p:txBody>
      </p:sp>
      <p:sp>
        <p:nvSpPr>
          <p:cNvPr id="196" name="Text 4"/>
          <p:cNvSpPr txBox="1"/>
          <p:nvPr/>
        </p:nvSpPr>
        <p:spPr>
          <a:xfrm>
            <a:off x="4925946" y="2335530"/>
            <a:ext cx="6348607" cy="48615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2000"/>
              </a:lnSpc>
              <a:defRPr sz="1200">
                <a:solidFill>
                  <a:srgbClr val="1F2430"/>
                </a:solidFill>
                <a:latin typeface="Roboto"/>
                <a:ea typeface="Roboto"/>
                <a:cs typeface="Roboto"/>
                <a:sym typeface="Roboto"/>
              </a:defRPr>
            </a:lvl1pPr>
          </a:lstStyle>
          <a:p>
            <a:pPr/>
            <a:r>
              <a:t>Most countries already have universal or near-universal access, so variation is packed into the lower end of the scale.</a:t>
            </a:r>
          </a:p>
        </p:txBody>
      </p:sp>
      <p:sp>
        <p:nvSpPr>
          <p:cNvPr id="197" name="Shape 5"/>
          <p:cNvSpPr/>
          <p:nvPr/>
        </p:nvSpPr>
        <p:spPr>
          <a:xfrm>
            <a:off x="4679058" y="3566159"/>
            <a:ext cx="6842382" cy="2057401"/>
          </a:xfrm>
          <a:prstGeom prst="roundRect">
            <a:avLst>
              <a:gd name="adj" fmla="val 2667"/>
            </a:avLst>
          </a:prstGeom>
          <a:solidFill>
            <a:srgbClr val="F4F6F8"/>
          </a:solidFill>
          <a:ln w="12700">
            <a:solidFill>
              <a:srgbClr val="E3DDD3"/>
            </a:solidFill>
          </a:ln>
        </p:spPr>
        <p:txBody>
          <a:bodyPr lIns="45719" rIns="45719"/>
          <a:lstStyle/>
          <a:p>
            <a:pPr/>
          </a:p>
        </p:txBody>
      </p:sp>
      <p:sp>
        <p:nvSpPr>
          <p:cNvPr id="198" name="Text 6"/>
          <p:cNvSpPr txBox="1"/>
          <p:nvPr/>
        </p:nvSpPr>
        <p:spPr>
          <a:xfrm>
            <a:off x="4925946" y="4103281"/>
            <a:ext cx="6348607"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200">
                <a:solidFill>
                  <a:srgbClr val="C1611D"/>
                </a:solidFill>
                <a:latin typeface="Roboto"/>
                <a:ea typeface="Roboto"/>
                <a:cs typeface="Roboto"/>
                <a:sym typeface="Roboto"/>
              </a:defRPr>
            </a:lvl1pPr>
          </a:lstStyle>
          <a:p>
            <a:pPr/>
            <a:r>
              <a:t>WHAT IT MEANS</a:t>
            </a:r>
          </a:p>
        </p:txBody>
      </p:sp>
      <p:sp>
        <p:nvSpPr>
          <p:cNvPr id="199" name="Text 7"/>
          <p:cNvSpPr txBox="1"/>
          <p:nvPr/>
        </p:nvSpPr>
        <p:spPr>
          <a:xfrm>
            <a:off x="4925946" y="4375912"/>
            <a:ext cx="6348607" cy="70307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2000"/>
              </a:lnSpc>
              <a:defRPr sz="1200">
                <a:solidFill>
                  <a:srgbClr val="1F2430"/>
                </a:solidFill>
                <a:latin typeface="Roboto"/>
                <a:ea typeface="Roboto"/>
                <a:cs typeface="Roboto"/>
                <a:sym typeface="Roboto"/>
              </a:defRPr>
            </a:lvl1pPr>
          </a:lstStyle>
          <a:p>
            <a:pPr/>
            <a:r>
              <a:t>Where access is incomplete, life expectancy is consistently lower. But countries clustered at 100% access still span a wide range, from the 60s to the high 80s: a floor, not a predictor, once cleared.</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1" name="Text 0"/>
          <p:cNvSpPr txBox="1"/>
          <p:nvPr/>
        </p:nvSpPr>
        <p:spPr>
          <a:xfrm>
            <a:off x="685800" y="378459"/>
            <a:ext cx="7223761"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300">
                <a:solidFill>
                  <a:srgbClr val="C1611D"/>
                </a:solidFill>
                <a:latin typeface="Roboto"/>
                <a:ea typeface="Roboto"/>
                <a:cs typeface="Roboto"/>
                <a:sym typeface="Roboto"/>
              </a:defRPr>
            </a:lvl1pPr>
          </a:lstStyle>
          <a:p>
            <a:pPr/>
            <a:r>
              <a:t>VARIABLE 11</a:t>
            </a:r>
          </a:p>
        </p:txBody>
      </p:sp>
      <p:sp>
        <p:nvSpPr>
          <p:cNvPr id="202" name="Text 1"/>
          <p:cNvSpPr txBox="1"/>
          <p:nvPr/>
        </p:nvSpPr>
        <p:spPr>
          <a:xfrm>
            <a:off x="685800" y="748537"/>
            <a:ext cx="10789920" cy="459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400">
                <a:solidFill>
                  <a:srgbClr val="1F2430"/>
                </a:solidFill>
                <a:latin typeface="Roboto"/>
                <a:ea typeface="Roboto"/>
                <a:cs typeface="Roboto"/>
                <a:sym typeface="Roboto"/>
              </a:defRPr>
            </a:lvl1pPr>
          </a:lstStyle>
          <a:p>
            <a:pPr/>
            <a:r>
              <a:t>Population density: weaker once the scale is fixed</a:t>
            </a:r>
          </a:p>
        </p:txBody>
      </p:sp>
      <p:pic>
        <p:nvPicPr>
          <p:cNvPr id="203" name="Image 0" descr="Image 0"/>
          <p:cNvPicPr>
            <a:picLocks noChangeAspect="1"/>
          </p:cNvPicPr>
          <p:nvPr/>
        </p:nvPicPr>
        <p:blipFill>
          <a:blip r:embed="rId2">
            <a:extLst/>
          </a:blip>
          <a:stretch>
            <a:fillRect/>
          </a:stretch>
        </p:blipFill>
        <p:spPr>
          <a:xfrm>
            <a:off x="640080" y="1463039"/>
            <a:ext cx="3718939" cy="4160522"/>
          </a:xfrm>
          <a:prstGeom prst="rect">
            <a:avLst/>
          </a:prstGeom>
          <a:ln w="12700">
            <a:miter lim="400000"/>
          </a:ln>
        </p:spPr>
      </p:pic>
      <p:sp>
        <p:nvSpPr>
          <p:cNvPr id="204" name="Shape 2"/>
          <p:cNvSpPr/>
          <p:nvPr/>
        </p:nvSpPr>
        <p:spPr>
          <a:xfrm>
            <a:off x="4679058" y="1463039"/>
            <a:ext cx="6842382" cy="1965961"/>
          </a:xfrm>
          <a:prstGeom prst="roundRect">
            <a:avLst>
              <a:gd name="adj" fmla="val 2791"/>
            </a:avLst>
          </a:prstGeom>
          <a:solidFill>
            <a:srgbClr val="F4F6F8"/>
          </a:solidFill>
          <a:ln w="12700">
            <a:solidFill>
              <a:srgbClr val="E3DDD3"/>
            </a:solidFill>
          </a:ln>
        </p:spPr>
        <p:txBody>
          <a:bodyPr lIns="45719" rIns="45719"/>
          <a:lstStyle/>
          <a:p>
            <a:pPr/>
          </a:p>
        </p:txBody>
      </p:sp>
      <p:sp>
        <p:nvSpPr>
          <p:cNvPr id="205" name="Text 3"/>
          <p:cNvSpPr txBox="1"/>
          <p:nvPr/>
        </p:nvSpPr>
        <p:spPr>
          <a:xfrm>
            <a:off x="4925946" y="2041144"/>
            <a:ext cx="6348607"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200">
                <a:solidFill>
                  <a:srgbClr val="C1611D"/>
                </a:solidFill>
                <a:latin typeface="Roboto"/>
                <a:ea typeface="Roboto"/>
                <a:cs typeface="Roboto"/>
                <a:sym typeface="Roboto"/>
              </a:defRPr>
            </a:lvl1pPr>
          </a:lstStyle>
          <a:p>
            <a:pPr/>
            <a:r>
              <a:t>THE PATTERN</a:t>
            </a:r>
          </a:p>
        </p:txBody>
      </p:sp>
      <p:sp>
        <p:nvSpPr>
          <p:cNvPr id="206" name="Text 4"/>
          <p:cNvSpPr txBox="1"/>
          <p:nvPr/>
        </p:nvSpPr>
        <p:spPr>
          <a:xfrm>
            <a:off x="4925946" y="2335530"/>
            <a:ext cx="6348607" cy="48615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2000"/>
              </a:lnSpc>
              <a:defRPr sz="1200">
                <a:solidFill>
                  <a:srgbClr val="1F2430"/>
                </a:solidFill>
                <a:latin typeface="Roboto"/>
                <a:ea typeface="Roboto"/>
                <a:cs typeface="Roboto"/>
                <a:sym typeface="Roboto"/>
              </a:defRPr>
            </a:lvl1pPr>
          </a:lstStyle>
          <a:p>
            <a:pPr/>
            <a:r>
              <a:t>A few outliers (Monaco, Singapore) are so much denser than everywhere else that the chart is unreadable without a log scale, so density is plotted logarithmically here.</a:t>
            </a:r>
          </a:p>
        </p:txBody>
      </p:sp>
      <p:sp>
        <p:nvSpPr>
          <p:cNvPr id="207" name="Shape 5"/>
          <p:cNvSpPr/>
          <p:nvPr/>
        </p:nvSpPr>
        <p:spPr>
          <a:xfrm>
            <a:off x="4679058" y="3566159"/>
            <a:ext cx="6842382" cy="2302021"/>
          </a:xfrm>
          <a:prstGeom prst="roundRect">
            <a:avLst>
              <a:gd name="adj" fmla="val 2667"/>
            </a:avLst>
          </a:prstGeom>
          <a:solidFill>
            <a:srgbClr val="F4F6F8"/>
          </a:solidFill>
          <a:ln w="12700">
            <a:solidFill>
              <a:srgbClr val="E3DDD3"/>
            </a:solidFill>
          </a:ln>
        </p:spPr>
        <p:txBody>
          <a:bodyPr lIns="45719" rIns="45719"/>
          <a:lstStyle/>
          <a:p>
            <a:pPr/>
          </a:p>
        </p:txBody>
      </p:sp>
      <p:sp>
        <p:nvSpPr>
          <p:cNvPr id="208" name="Text 6"/>
          <p:cNvSpPr txBox="1"/>
          <p:nvPr/>
        </p:nvSpPr>
        <p:spPr>
          <a:xfrm>
            <a:off x="4925946" y="4218939"/>
            <a:ext cx="6348607"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200">
                <a:solidFill>
                  <a:srgbClr val="C1611D"/>
                </a:solidFill>
                <a:latin typeface="Roboto"/>
                <a:ea typeface="Roboto"/>
                <a:cs typeface="Roboto"/>
                <a:sym typeface="Roboto"/>
              </a:defRPr>
            </a:lvl1pPr>
          </a:lstStyle>
          <a:p>
            <a:pPr/>
            <a:r>
              <a:t>WHAT IT MEANS</a:t>
            </a:r>
          </a:p>
        </p:txBody>
      </p:sp>
      <p:sp>
        <p:nvSpPr>
          <p:cNvPr id="209" name="Text 7"/>
          <p:cNvSpPr txBox="1"/>
          <p:nvPr/>
        </p:nvSpPr>
        <p:spPr>
          <a:xfrm>
            <a:off x="4925946" y="4518180"/>
            <a:ext cx="6348607" cy="1250000"/>
          </a:xfrm>
          <a:prstGeom prst="rect">
            <a:avLst/>
          </a:prstGeom>
          <a:ln w="12700">
            <a:miter lim="400000"/>
          </a:ln>
          <a:extLst>
            <a:ext uri="{C572A759-6A51-4108-AA02-DFA0A04FC94B}">
              <ma14:wrappingTextBoxFlag xmlns:ma14="http://schemas.microsoft.com/office/mac/drawingml/2011/main" val="1"/>
            </a:ext>
          </a:extLst>
        </p:spPr>
        <p:txBody>
          <a:bodyPr lIns="45719" rIns="45719" anchor="t">
            <a:spAutoFit/>
          </a:bodyPr>
          <a:lstStyle>
            <a:lvl1pPr>
              <a:lnSpc>
                <a:spcPct val="122000"/>
              </a:lnSpc>
              <a:defRPr sz="1200">
                <a:solidFill>
                  <a:srgbClr val="1F2430"/>
                </a:solidFill>
                <a:latin typeface="Roboto"/>
                <a:ea typeface="Roboto"/>
                <a:cs typeface="Roboto"/>
                <a:sym typeface="Roboto"/>
              </a:defRPr>
            </a:lvl1pPr>
          </a:lstStyle>
          <a:p>
            <a:pPr/>
            <a:r>
              <a:t>My guess: density is measuring two different things here. Tiny wealthy city-states (Monaco, Singapore) are dense purely for lacking land area, unrelated to health, while dense poor urban areas can carry real health costs. Much of this chart is really land area, a geographic accident, not a development signal.</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8" name="Text 0"/>
          <p:cNvSpPr txBox="1"/>
          <p:nvPr/>
        </p:nvSpPr>
        <p:spPr>
          <a:xfrm>
            <a:off x="685800" y="378459"/>
            <a:ext cx="7223761"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300">
                <a:solidFill>
                  <a:srgbClr val="C1611D"/>
                </a:solidFill>
                <a:latin typeface="Roboto"/>
                <a:ea typeface="Roboto"/>
                <a:cs typeface="Roboto"/>
                <a:sym typeface="Roboto"/>
              </a:defRPr>
            </a:lvl1pPr>
          </a:lstStyle>
          <a:p>
            <a:pPr/>
            <a:r>
              <a:t>DASHBOARD 1</a:t>
            </a:r>
          </a:p>
        </p:txBody>
      </p:sp>
      <p:sp>
        <p:nvSpPr>
          <p:cNvPr id="129" name="Text 1"/>
          <p:cNvSpPr txBox="1"/>
          <p:nvPr/>
        </p:nvSpPr>
        <p:spPr>
          <a:xfrm>
            <a:off x="685800" y="742187"/>
            <a:ext cx="10789920" cy="472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500">
                <a:solidFill>
                  <a:srgbClr val="1F2430"/>
                </a:solidFill>
                <a:latin typeface="Roboto"/>
                <a:ea typeface="Roboto"/>
                <a:cs typeface="Roboto"/>
                <a:sym typeface="Roboto"/>
              </a:defRPr>
            </a:lvl1pPr>
          </a:lstStyle>
          <a:p>
            <a:pPr/>
            <a:r>
              <a:t>Wealth and Regional Comparison</a:t>
            </a:r>
          </a:p>
        </p:txBody>
      </p:sp>
      <p:pic>
        <p:nvPicPr>
          <p:cNvPr id="130" name="Image 0" descr="Image 0"/>
          <p:cNvPicPr>
            <a:picLocks noChangeAspect="1"/>
          </p:cNvPicPr>
          <p:nvPr/>
        </p:nvPicPr>
        <p:blipFill>
          <a:blip r:embed="rId2">
            <a:extLst/>
          </a:blip>
          <a:stretch>
            <a:fillRect/>
          </a:stretch>
        </p:blipFill>
        <p:spPr>
          <a:xfrm>
            <a:off x="640080" y="1463039"/>
            <a:ext cx="5200651" cy="4160522"/>
          </a:xfrm>
          <a:prstGeom prst="rect">
            <a:avLst/>
          </a:prstGeom>
          <a:ln w="12700">
            <a:miter lim="400000"/>
          </a:ln>
        </p:spPr>
      </p:pic>
      <p:sp>
        <p:nvSpPr>
          <p:cNvPr id="131" name="Shape 2"/>
          <p:cNvSpPr/>
          <p:nvPr/>
        </p:nvSpPr>
        <p:spPr>
          <a:xfrm>
            <a:off x="6160770" y="1463039"/>
            <a:ext cx="5360671" cy="4160522"/>
          </a:xfrm>
          <a:prstGeom prst="roundRect">
            <a:avLst>
              <a:gd name="adj" fmla="val 1319"/>
            </a:avLst>
          </a:prstGeom>
          <a:solidFill>
            <a:srgbClr val="F4F6F8"/>
          </a:solidFill>
          <a:ln w="12700">
            <a:solidFill>
              <a:srgbClr val="E3DDD3"/>
            </a:solidFill>
          </a:ln>
        </p:spPr>
        <p:txBody>
          <a:bodyPr lIns="45719" rIns="45719"/>
          <a:lstStyle/>
          <a:p>
            <a:pPr/>
          </a:p>
        </p:txBody>
      </p:sp>
      <p:sp>
        <p:nvSpPr>
          <p:cNvPr id="132" name="Text 3"/>
          <p:cNvSpPr txBox="1"/>
          <p:nvPr/>
        </p:nvSpPr>
        <p:spPr>
          <a:xfrm>
            <a:off x="6407658" y="2592380"/>
            <a:ext cx="4866895"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200">
                <a:solidFill>
                  <a:srgbClr val="C1611D"/>
                </a:solidFill>
                <a:latin typeface="Roboto"/>
                <a:ea typeface="Roboto"/>
                <a:cs typeface="Roboto"/>
                <a:sym typeface="Roboto"/>
              </a:defRPr>
            </a:lvl1pPr>
          </a:lstStyle>
          <a:p>
            <a:pPr/>
            <a:r>
              <a:t>HOW IT'S USED</a:t>
            </a:r>
          </a:p>
        </p:txBody>
      </p:sp>
      <p:sp>
        <p:nvSpPr>
          <p:cNvPr id="133" name="Text 4"/>
          <p:cNvSpPr txBox="1"/>
          <p:nvPr/>
        </p:nvSpPr>
        <p:spPr>
          <a:xfrm>
            <a:off x="6407657" y="2886472"/>
            <a:ext cx="4866896" cy="157883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nSpc>
                <a:spcPct val="122000"/>
              </a:lnSpc>
              <a:defRPr sz="1200">
                <a:solidFill>
                  <a:srgbClr val="1F2430"/>
                </a:solidFill>
                <a:latin typeface="Roboto"/>
                <a:ea typeface="Roboto"/>
                <a:cs typeface="Roboto"/>
                <a:sym typeface="Roboto"/>
              </a:defRPr>
            </a:pPr>
            <a:r>
              <a:t>Motion Chart 1 (GDP vs. life expectancy) paired with the regional bar chart. Press play on the Year control and the bubble cloud sweeps upward and right over 23 years.</a:t>
            </a:r>
          </a:p>
          <a:p>
            <a:pPr>
              <a:lnSpc>
                <a:spcPct val="122000"/>
              </a:lnSpc>
              <a:defRPr sz="1200"/>
            </a:pPr>
          </a:p>
          <a:p>
            <a:pPr>
              <a:lnSpc>
                <a:spcPct val="122000"/>
              </a:lnSpc>
              <a:defRPr sz="1200">
                <a:solidFill>
                  <a:srgbClr val="1F2430"/>
                </a:solidFill>
                <a:latin typeface="Roboto"/>
                <a:ea typeface="Roboto"/>
                <a:cs typeface="Roboto"/>
                <a:sym typeface="Roboto"/>
              </a:defRPr>
            </a:pPr>
            <a:r>
              <a:t>Click any bubble and its region highlights in the bar chart below. Highlighting is set to All Fields, so the link between one country and its regional average is one click away.</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5" name="Text 0"/>
          <p:cNvSpPr txBox="1"/>
          <p:nvPr/>
        </p:nvSpPr>
        <p:spPr>
          <a:xfrm>
            <a:off x="685800" y="378459"/>
            <a:ext cx="7223761"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300">
                <a:solidFill>
                  <a:srgbClr val="C1611D"/>
                </a:solidFill>
                <a:latin typeface="Roboto"/>
                <a:ea typeface="Roboto"/>
                <a:cs typeface="Roboto"/>
                <a:sym typeface="Roboto"/>
              </a:defRPr>
            </a:lvl1pPr>
          </a:lstStyle>
          <a:p>
            <a:pPr/>
            <a:r>
              <a:t>DASHBOARD 2</a:t>
            </a:r>
          </a:p>
        </p:txBody>
      </p:sp>
      <p:sp>
        <p:nvSpPr>
          <p:cNvPr id="136" name="Text 1"/>
          <p:cNvSpPr txBox="1"/>
          <p:nvPr/>
        </p:nvSpPr>
        <p:spPr>
          <a:xfrm>
            <a:off x="685800" y="742187"/>
            <a:ext cx="10789920" cy="472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500">
                <a:solidFill>
                  <a:srgbClr val="1F2430"/>
                </a:solidFill>
                <a:latin typeface="Roboto"/>
                <a:ea typeface="Roboto"/>
                <a:cs typeface="Roboto"/>
                <a:sym typeface="Roboto"/>
              </a:defRPr>
            </a:lvl1pPr>
          </a:lstStyle>
          <a:p>
            <a:pPr/>
            <a:r>
              <a:t>Geography, Spending, and Time</a:t>
            </a:r>
          </a:p>
        </p:txBody>
      </p:sp>
      <p:pic>
        <p:nvPicPr>
          <p:cNvPr id="137" name="Image 0" descr="Image 0"/>
          <p:cNvPicPr>
            <a:picLocks noChangeAspect="1"/>
          </p:cNvPicPr>
          <p:nvPr/>
        </p:nvPicPr>
        <p:blipFill>
          <a:blip r:embed="rId2">
            <a:extLst/>
          </a:blip>
          <a:stretch>
            <a:fillRect/>
          </a:stretch>
        </p:blipFill>
        <p:spPr>
          <a:xfrm>
            <a:off x="640080" y="1463039"/>
            <a:ext cx="5200651" cy="4160522"/>
          </a:xfrm>
          <a:prstGeom prst="rect">
            <a:avLst/>
          </a:prstGeom>
          <a:ln w="12700">
            <a:miter lim="400000"/>
          </a:ln>
        </p:spPr>
      </p:pic>
      <p:sp>
        <p:nvSpPr>
          <p:cNvPr id="138" name="Shape 2"/>
          <p:cNvSpPr/>
          <p:nvPr/>
        </p:nvSpPr>
        <p:spPr>
          <a:xfrm>
            <a:off x="6160770" y="1463039"/>
            <a:ext cx="5360671" cy="4160522"/>
          </a:xfrm>
          <a:prstGeom prst="roundRect">
            <a:avLst>
              <a:gd name="adj" fmla="val 1319"/>
            </a:avLst>
          </a:prstGeom>
          <a:solidFill>
            <a:srgbClr val="F4F6F8"/>
          </a:solidFill>
          <a:ln w="12700">
            <a:solidFill>
              <a:srgbClr val="E3DDD3"/>
            </a:solidFill>
          </a:ln>
        </p:spPr>
        <p:txBody>
          <a:bodyPr lIns="45719" rIns="45719"/>
          <a:lstStyle/>
          <a:p>
            <a:pPr/>
          </a:p>
        </p:txBody>
      </p:sp>
      <p:sp>
        <p:nvSpPr>
          <p:cNvPr id="139" name="Text 3"/>
          <p:cNvSpPr txBox="1"/>
          <p:nvPr/>
        </p:nvSpPr>
        <p:spPr>
          <a:xfrm>
            <a:off x="6407658" y="2618129"/>
            <a:ext cx="4866895"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200">
                <a:solidFill>
                  <a:srgbClr val="C1611D"/>
                </a:solidFill>
                <a:latin typeface="Roboto"/>
                <a:ea typeface="Roboto"/>
                <a:cs typeface="Roboto"/>
                <a:sym typeface="Roboto"/>
              </a:defRPr>
            </a:lvl1pPr>
          </a:lstStyle>
          <a:p>
            <a:pPr/>
            <a:r>
              <a:t>READING THE VIEW</a:t>
            </a:r>
          </a:p>
        </p:txBody>
      </p:sp>
      <p:sp>
        <p:nvSpPr>
          <p:cNvPr id="140" name="Text 4"/>
          <p:cNvSpPr txBox="1"/>
          <p:nvPr/>
        </p:nvSpPr>
        <p:spPr>
          <a:xfrm>
            <a:off x="6407657" y="2886472"/>
            <a:ext cx="4866896" cy="157883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nSpc>
                <a:spcPct val="122000"/>
              </a:lnSpc>
              <a:defRPr sz="1200">
                <a:solidFill>
                  <a:srgbClr val="1F2430"/>
                </a:solidFill>
                <a:latin typeface="Roboto"/>
                <a:ea typeface="Roboto"/>
                <a:cs typeface="Roboto"/>
                <a:sym typeface="Roboto"/>
              </a:defRPr>
            </a:pPr>
            <a:r>
              <a:t>The map, the health-expenditure motion chart, and the 23-year trend line, cross-highlighted together.</a:t>
            </a:r>
          </a:p>
          <a:p>
            <a:pPr>
              <a:lnSpc>
                <a:spcPct val="122000"/>
              </a:lnSpc>
              <a:defRPr sz="1200"/>
            </a:pPr>
          </a:p>
          <a:p>
            <a:pPr>
              <a:lnSpc>
                <a:spcPct val="122000"/>
              </a:lnSpc>
              <a:defRPr sz="1200">
                <a:solidFill>
                  <a:srgbClr val="1F2430"/>
                </a:solidFill>
                <a:latin typeface="Roboto"/>
                <a:ea typeface="Roboto"/>
                <a:cs typeface="Roboto"/>
                <a:sym typeface="Roboto"/>
              </a:defRPr>
            </a:pPr>
            <a:r>
              <a:t>Click a country on the map to see how its spending compares to neighbors and where its region's trend line sits. Each view keeps its own Year control, since Tableau animates the Pages shelf per worksheet, but one click still ties all three together.</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5" name="Text 0"/>
          <p:cNvSpPr txBox="1"/>
          <p:nvPr/>
        </p:nvSpPr>
        <p:spPr>
          <a:xfrm>
            <a:off x="685800" y="378459"/>
            <a:ext cx="7223761"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300">
                <a:solidFill>
                  <a:srgbClr val="C1611D"/>
                </a:solidFill>
                <a:latin typeface="Roboto"/>
                <a:ea typeface="Roboto"/>
                <a:cs typeface="Roboto"/>
                <a:sym typeface="Roboto"/>
              </a:defRPr>
            </a:lvl1pPr>
          </a:lstStyle>
          <a:p>
            <a:pPr/>
            <a:r>
              <a:t>DASHBOARD 3</a:t>
            </a:r>
          </a:p>
        </p:txBody>
      </p:sp>
      <p:sp>
        <p:nvSpPr>
          <p:cNvPr id="136" name="Text 1"/>
          <p:cNvSpPr txBox="1"/>
          <p:nvPr/>
        </p:nvSpPr>
        <p:spPr>
          <a:xfrm>
            <a:off x="685800" y="742187"/>
            <a:ext cx="10789920" cy="472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500">
                <a:solidFill>
                  <a:srgbClr val="1F2430"/>
                </a:solidFill>
                <a:latin typeface="Roboto"/>
                <a:ea typeface="Roboto"/>
                <a:cs typeface="Roboto"/>
                <a:sym typeface="Roboto"/>
              </a:defRPr>
            </a:lvl1pPr>
          </a:lstStyle>
          <a:p>
            <a:pPr/>
            <a:r>
              <a:t>Development, Access, and Density</a:t>
            </a:r>
          </a:p>
        </p:txBody>
      </p:sp>
      <p:pic>
        <p:nvPicPr>
          <p:cNvPr id="137" name="Image 0" descr="Image 0"/>
          <p:cNvPicPr>
            <a:picLocks noChangeAspect="1"/>
          </p:cNvPicPr>
          <p:nvPr/>
        </p:nvPicPr>
        <p:blipFill>
          <a:blip r:embed="rId2">
            <a:extLst/>
          </a:blip>
          <a:stretch>
            <a:fillRect/>
          </a:stretch>
        </p:blipFill>
        <p:spPr>
          <a:xfrm>
            <a:off x="640080" y="1463039"/>
            <a:ext cx="3400000" cy="5100000"/>
          </a:xfrm>
          <a:prstGeom prst="rect">
            <a:avLst/>
          </a:prstGeom>
          <a:ln w="12700">
            <a:miter lim="400000"/>
          </a:ln>
        </p:spPr>
      </p:pic>
      <p:sp>
        <p:nvSpPr>
          <p:cNvPr id="138" name="Shape 2"/>
          <p:cNvSpPr/>
          <p:nvPr/>
        </p:nvSpPr>
        <p:spPr>
          <a:xfrm>
            <a:off x="4340080" y="1463039"/>
            <a:ext cx="7135640" cy="4160522"/>
          </a:xfrm>
          <a:prstGeom prst="roundRect">
            <a:avLst>
              <a:gd name="adj" fmla="val 1319"/>
            </a:avLst>
          </a:prstGeom>
          <a:solidFill>
            <a:srgbClr val="F4F6F8"/>
          </a:solidFill>
          <a:ln w="12700">
            <a:solidFill>
              <a:srgbClr val="E3DDD3"/>
            </a:solidFill>
          </a:ln>
        </p:spPr>
        <p:txBody>
          <a:bodyPr lIns="45719" rIns="45719"/>
          <a:lstStyle/>
          <a:p>
            <a:pPr/>
          </a:p>
        </p:txBody>
      </p:sp>
      <p:sp>
        <p:nvSpPr>
          <p:cNvPr id="139" name="Text 3"/>
          <p:cNvSpPr txBox="1"/>
          <p:nvPr/>
        </p:nvSpPr>
        <p:spPr>
          <a:xfrm>
            <a:off x="4586968" y="2618129"/>
            <a:ext cx="6641864"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200">
                <a:solidFill>
                  <a:srgbClr val="C1611D"/>
                </a:solidFill>
                <a:latin typeface="Roboto"/>
                <a:ea typeface="Roboto"/>
                <a:cs typeface="Roboto"/>
                <a:sym typeface="Roboto"/>
              </a:defRPr>
            </a:lvl1pPr>
          </a:lstStyle>
          <a:p>
            <a:pPr/>
            <a:r>
              <a:t>HOW IT'S USED</a:t>
            </a:r>
          </a:p>
        </p:txBody>
      </p:sp>
      <p:sp>
        <p:nvSpPr>
          <p:cNvPr id="140" name="Text 4"/>
          <p:cNvSpPr txBox="1"/>
          <p:nvPr/>
        </p:nvSpPr>
        <p:spPr>
          <a:xfrm>
            <a:off x="4586967" y="2886472"/>
            <a:ext cx="6641865" cy="157883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nSpc>
                <a:spcPct val="122000"/>
              </a:lnSpc>
              <a:defRPr sz="1200">
                <a:solidFill>
                  <a:srgbClr val="1F2430"/>
                </a:solidFill>
                <a:latin typeface="Roboto"/>
                <a:ea typeface="Roboto"/>
                <a:cs typeface="Roboto"/>
                <a:sym typeface="Roboto"/>
              </a:defRPr>
            </a:pPr>
            <a:r>
              <a:t>All five newer variables, urban population, internet use, unemployment, electricity access, and population density, linked in one dashboard. None of them have a time dimension to animate, so unlike Dashboards 1 and 2, there's no Year control here.</a:t>
            </a:r>
          </a:p>
          <a:p>
            <a:pPr>
              <a:lnSpc>
                <a:spcPct val="122000"/>
              </a:lnSpc>
              <a:defRPr sz="1200"/>
            </a:pPr>
          </a:p>
          <a:p>
            <a:pPr>
              <a:lnSpc>
                <a:spcPct val="122000"/>
              </a:lnSpc>
              <a:defRPr sz="1200">
                <a:solidFill>
                  <a:srgbClr val="1F2430"/>
                </a:solidFill>
                <a:latin typeface="Roboto"/>
                <a:ea typeface="Roboto"/>
                <a:cs typeface="Roboto"/>
                <a:sym typeface="Roboto"/>
              </a:defRPr>
            </a:pPr>
            <a:r>
              <a:t>Selecting a country on any one scatter highlights it across all five, so a country that stands out on internet use is easy to trace across urbanization, unemployment, electricity access, and density in the same click.</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1" name="Text 0"/>
          <p:cNvSpPr txBox="1"/>
          <p:nvPr/>
        </p:nvSpPr>
        <p:spPr>
          <a:xfrm>
            <a:off x="685800" y="440690"/>
            <a:ext cx="722376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400">
                <a:solidFill>
                  <a:srgbClr val="C1611D"/>
                </a:solidFill>
                <a:latin typeface="Roboto"/>
                <a:ea typeface="Roboto"/>
                <a:cs typeface="Roboto"/>
                <a:sym typeface="Roboto"/>
              </a:defRPr>
            </a:lvl1pPr>
          </a:lstStyle>
          <a:p>
            <a:pPr/>
            <a:r>
              <a:t>INSIGHTS GAINED</a:t>
            </a:r>
          </a:p>
        </p:txBody>
      </p:sp>
      <p:sp>
        <p:nvSpPr>
          <p:cNvPr id="212" name="Text 1"/>
          <p:cNvSpPr txBox="1"/>
          <p:nvPr/>
        </p:nvSpPr>
        <p:spPr>
          <a:xfrm>
            <a:off x="685800" y="906780"/>
            <a:ext cx="10789920" cy="472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500">
                <a:solidFill>
                  <a:srgbClr val="1F2430"/>
                </a:solidFill>
                <a:latin typeface="Roboto"/>
                <a:ea typeface="Roboto"/>
                <a:cs typeface="Roboto"/>
                <a:sym typeface="Roboto"/>
              </a:defRPr>
            </a:lvl1pPr>
          </a:lstStyle>
          <a:p>
            <a:pPr/>
            <a:r>
              <a:t>What the dashboards changed about the conclusions</a:t>
            </a:r>
          </a:p>
        </p:txBody>
      </p:sp>
      <p:sp>
        <p:nvSpPr>
          <p:cNvPr id="213" name="Shape 2"/>
          <p:cNvSpPr/>
          <p:nvPr/>
        </p:nvSpPr>
        <p:spPr>
          <a:xfrm>
            <a:off x="640080" y="1822322"/>
            <a:ext cx="5257801" cy="1371601"/>
          </a:xfrm>
          <a:prstGeom prst="roundRect">
            <a:avLst>
              <a:gd name="adj" fmla="val 4667"/>
            </a:avLst>
          </a:prstGeom>
          <a:solidFill>
            <a:srgbClr val="F4F6F8"/>
          </a:solidFill>
          <a:ln w="12700">
            <a:solidFill>
              <a:srgbClr val="E3DDD3"/>
            </a:solidFill>
          </a:ln>
        </p:spPr>
        <p:txBody>
          <a:bodyPr lIns="45719" rIns="45719"/>
          <a:lstStyle/>
          <a:p>
            <a:pPr/>
          </a:p>
        </p:txBody>
      </p:sp>
      <p:sp>
        <p:nvSpPr>
          <p:cNvPr id="214" name="Text 3"/>
          <p:cNvSpPr txBox="1"/>
          <p:nvPr/>
        </p:nvSpPr>
        <p:spPr>
          <a:xfrm>
            <a:off x="886967" y="1957577"/>
            <a:ext cx="4764026"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solidFill>
                  <a:srgbClr val="065A82"/>
                </a:solidFill>
                <a:latin typeface="Roboto"/>
                <a:ea typeface="Roboto"/>
                <a:cs typeface="Roboto"/>
                <a:sym typeface="Roboto"/>
              </a:defRPr>
            </a:lvl1pPr>
          </a:lstStyle>
          <a:p>
            <a:pPr/>
            <a:r>
              <a:t>Relationships</a:t>
            </a:r>
          </a:p>
        </p:txBody>
      </p:sp>
      <p:sp>
        <p:nvSpPr>
          <p:cNvPr id="215" name="Text 4"/>
          <p:cNvSpPr txBox="1"/>
          <p:nvPr/>
        </p:nvSpPr>
        <p:spPr>
          <a:xfrm>
            <a:off x="886967" y="2235389"/>
            <a:ext cx="4764026" cy="85090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0000"/>
              </a:lnSpc>
              <a:defRPr sz="1100">
                <a:solidFill>
                  <a:srgbClr val="1F2430"/>
                </a:solidFill>
                <a:latin typeface="Roboto"/>
                <a:ea typeface="Roboto"/>
                <a:cs typeface="Roboto"/>
                <a:sym typeface="Roboto"/>
              </a:defRPr>
            </a:lvl1pPr>
          </a:lstStyle>
          <a:p>
            <a:pPr/>
            <a:r>
              <a:t>Physicians per 1,000 and GDP per capita both tracked life expectancy closely across the motion charts. Health-expenditure share was the weakest link of the three, even though it's the one that comes up most in policy debates.</a:t>
            </a:r>
          </a:p>
        </p:txBody>
      </p:sp>
      <p:sp>
        <p:nvSpPr>
          <p:cNvPr id="216" name="Shape 5"/>
          <p:cNvSpPr/>
          <p:nvPr/>
        </p:nvSpPr>
        <p:spPr>
          <a:xfrm>
            <a:off x="6263640" y="1822322"/>
            <a:ext cx="5257801" cy="1371601"/>
          </a:xfrm>
          <a:prstGeom prst="roundRect">
            <a:avLst>
              <a:gd name="adj" fmla="val 4667"/>
            </a:avLst>
          </a:prstGeom>
          <a:solidFill>
            <a:srgbClr val="F4F6F8"/>
          </a:solidFill>
          <a:ln w="12700">
            <a:solidFill>
              <a:srgbClr val="E3DDD3"/>
            </a:solidFill>
          </a:ln>
        </p:spPr>
        <p:txBody>
          <a:bodyPr lIns="45719" rIns="45719"/>
          <a:lstStyle/>
          <a:p>
            <a:pPr/>
          </a:p>
        </p:txBody>
      </p:sp>
      <p:sp>
        <p:nvSpPr>
          <p:cNvPr id="217" name="Text 6"/>
          <p:cNvSpPr txBox="1"/>
          <p:nvPr/>
        </p:nvSpPr>
        <p:spPr>
          <a:xfrm>
            <a:off x="6510528" y="1957577"/>
            <a:ext cx="4764025"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solidFill>
                  <a:srgbClr val="065A82"/>
                </a:solidFill>
                <a:latin typeface="Roboto"/>
                <a:ea typeface="Roboto"/>
                <a:cs typeface="Roboto"/>
                <a:sym typeface="Roboto"/>
              </a:defRPr>
            </a:lvl1pPr>
          </a:lstStyle>
          <a:p>
            <a:pPr/>
            <a:r>
              <a:t>Outliers</a:t>
            </a:r>
          </a:p>
        </p:txBody>
      </p:sp>
      <p:sp>
        <p:nvSpPr>
          <p:cNvPr id="218" name="Text 7"/>
          <p:cNvSpPr txBox="1"/>
          <p:nvPr/>
        </p:nvSpPr>
        <p:spPr>
          <a:xfrm>
            <a:off x="6510528" y="2235389"/>
            <a:ext cx="4764025" cy="65278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0000"/>
              </a:lnSpc>
              <a:defRPr sz="1100">
                <a:solidFill>
                  <a:srgbClr val="1F2430"/>
                </a:solidFill>
                <a:latin typeface="Roboto"/>
                <a:ea typeface="Roboto"/>
                <a:cs typeface="Roboto"/>
                <a:sym typeface="Roboto"/>
              </a:defRPr>
            </a:lvl1pPr>
          </a:lstStyle>
          <a:p>
            <a:pPr/>
            <a:r>
              <a:t>A handful of high-population, mid-expectancy countries pull the global picture toward the middle even while smaller wealthy nations cluster near the top.</a:t>
            </a:r>
          </a:p>
        </p:txBody>
      </p:sp>
      <p:sp>
        <p:nvSpPr>
          <p:cNvPr id="219" name="Shape 8"/>
          <p:cNvSpPr/>
          <p:nvPr/>
        </p:nvSpPr>
        <p:spPr>
          <a:xfrm>
            <a:off x="640080" y="3376420"/>
            <a:ext cx="5257801" cy="1101345"/>
          </a:xfrm>
          <a:prstGeom prst="roundRect">
            <a:avLst>
              <a:gd name="adj" fmla="val 5812"/>
            </a:avLst>
          </a:prstGeom>
          <a:solidFill>
            <a:srgbClr val="F4F6F8"/>
          </a:solidFill>
          <a:ln w="12700">
            <a:solidFill>
              <a:srgbClr val="E3DDD3"/>
            </a:solidFill>
          </a:ln>
        </p:spPr>
        <p:txBody>
          <a:bodyPr lIns="45719" rIns="45719"/>
          <a:lstStyle/>
          <a:p>
            <a:pPr/>
          </a:p>
        </p:txBody>
      </p:sp>
      <p:sp>
        <p:nvSpPr>
          <p:cNvPr id="220" name="Text 9"/>
          <p:cNvSpPr txBox="1"/>
          <p:nvPr/>
        </p:nvSpPr>
        <p:spPr>
          <a:xfrm>
            <a:off x="886967" y="3474464"/>
            <a:ext cx="4764026"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solidFill>
                  <a:srgbClr val="065A82"/>
                </a:solidFill>
                <a:latin typeface="Roboto"/>
                <a:ea typeface="Roboto"/>
                <a:cs typeface="Roboto"/>
                <a:sym typeface="Roboto"/>
              </a:defRPr>
            </a:lvl1pPr>
          </a:lstStyle>
          <a:p>
            <a:pPr/>
            <a:r>
              <a:t>Trends</a:t>
            </a:r>
          </a:p>
        </p:txBody>
      </p:sp>
      <p:sp>
        <p:nvSpPr>
          <p:cNvPr id="221" name="Text 10"/>
          <p:cNvSpPr txBox="1"/>
          <p:nvPr/>
        </p:nvSpPr>
        <p:spPr>
          <a:xfrm>
            <a:off x="886967" y="3706874"/>
            <a:ext cx="4764026" cy="65278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0000"/>
              </a:lnSpc>
              <a:defRPr sz="1100">
                <a:solidFill>
                  <a:srgbClr val="1F2430"/>
                </a:solidFill>
                <a:latin typeface="Roboto"/>
                <a:ea typeface="Roboto"/>
                <a:cs typeface="Roboto"/>
                <a:sym typeface="Roboto"/>
              </a:defRPr>
            </a:lvl1pPr>
          </a:lstStyle>
          <a:p>
            <a:pPr/>
            <a:r>
              <a:t>Progress isn't a straight line up. The 2019-2021 dip across nearly every region is a reminder that a decades-long upward trend can still carry a real reversal.</a:t>
            </a:r>
          </a:p>
        </p:txBody>
      </p:sp>
      <p:sp>
        <p:nvSpPr>
          <p:cNvPr id="222" name="Shape 11"/>
          <p:cNvSpPr/>
          <p:nvPr/>
        </p:nvSpPr>
        <p:spPr>
          <a:xfrm>
            <a:off x="6263640" y="3376420"/>
            <a:ext cx="5257801" cy="1101345"/>
          </a:xfrm>
          <a:prstGeom prst="roundRect">
            <a:avLst>
              <a:gd name="adj" fmla="val 5812"/>
            </a:avLst>
          </a:prstGeom>
          <a:solidFill>
            <a:srgbClr val="F4F6F8"/>
          </a:solidFill>
          <a:ln w="12700">
            <a:solidFill>
              <a:srgbClr val="E3DDD3"/>
            </a:solidFill>
          </a:ln>
        </p:spPr>
        <p:txBody>
          <a:bodyPr lIns="45719" rIns="45719"/>
          <a:lstStyle/>
          <a:p>
            <a:pPr/>
          </a:p>
        </p:txBody>
      </p:sp>
      <p:sp>
        <p:nvSpPr>
          <p:cNvPr id="223" name="Text 12"/>
          <p:cNvSpPr txBox="1"/>
          <p:nvPr/>
        </p:nvSpPr>
        <p:spPr>
          <a:xfrm>
            <a:off x="6510528" y="3474464"/>
            <a:ext cx="4764025"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solidFill>
                  <a:srgbClr val="065A82"/>
                </a:solidFill>
                <a:latin typeface="Roboto"/>
                <a:ea typeface="Roboto"/>
                <a:cs typeface="Roboto"/>
                <a:sym typeface="Roboto"/>
              </a:defRPr>
            </a:lvl1pPr>
          </a:lstStyle>
          <a:p>
            <a:pPr/>
            <a:r>
              <a:t>Geography</a:t>
            </a:r>
          </a:p>
        </p:txBody>
      </p:sp>
      <p:sp>
        <p:nvSpPr>
          <p:cNvPr id="224" name="Text 13"/>
          <p:cNvSpPr txBox="1"/>
          <p:nvPr/>
        </p:nvSpPr>
        <p:spPr>
          <a:xfrm>
            <a:off x="6510528" y="3744339"/>
            <a:ext cx="4764025" cy="45466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0000"/>
              </a:lnSpc>
              <a:defRPr sz="1100">
                <a:solidFill>
                  <a:srgbClr val="1F2430"/>
                </a:solidFill>
                <a:latin typeface="Roboto"/>
                <a:ea typeface="Roboto"/>
                <a:cs typeface="Roboto"/>
                <a:sym typeface="Roboto"/>
              </a:defRPr>
            </a:lvl1pPr>
          </a:lstStyle>
          <a:p>
            <a:pPr/>
            <a:r>
              <a:t>The animated, diverging map makes Sub-Saharan Africa's stall obvious in a way the regional average (58.97 years) alone doesn't really convey.</a:t>
            </a:r>
          </a:p>
        </p:txBody>
      </p:sp>
      <p:sp>
        <p:nvSpPr>
          <p:cNvPr id="225" name="Shape 14"/>
          <p:cNvSpPr/>
          <p:nvPr/>
        </p:nvSpPr>
        <p:spPr>
          <a:xfrm>
            <a:off x="640080" y="4620895"/>
            <a:ext cx="10881360" cy="1304036"/>
          </a:xfrm>
          <a:prstGeom prst="roundRect">
            <a:avLst>
              <a:gd name="adj" fmla="val 4207"/>
            </a:avLst>
          </a:prstGeom>
          <a:solidFill>
            <a:srgbClr val="F4F6F8"/>
          </a:solidFill>
          <a:ln w="12700">
            <a:solidFill>
              <a:srgbClr val="E3DDD3"/>
            </a:solidFill>
          </a:ln>
        </p:spPr>
        <p:txBody>
          <a:bodyPr lIns="45719" rIns="45719"/>
          <a:lstStyle/>
          <a:p>
            <a:pPr/>
          </a:p>
        </p:txBody>
      </p:sp>
      <p:sp>
        <p:nvSpPr>
          <p:cNvPr id="226" name="Text 15"/>
          <p:cNvSpPr txBox="1"/>
          <p:nvPr/>
        </p:nvSpPr>
        <p:spPr>
          <a:xfrm>
            <a:off x="886968" y="4830445"/>
            <a:ext cx="10158985"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200">
                <a:solidFill>
                  <a:srgbClr val="C1611D"/>
                </a:solidFill>
                <a:latin typeface="Roboto"/>
                <a:ea typeface="Roboto"/>
                <a:cs typeface="Roboto"/>
                <a:sym typeface="Roboto"/>
              </a:defRPr>
            </a:lvl1pPr>
          </a:lstStyle>
          <a:p>
            <a:pPr/>
            <a:r>
              <a:t>ON THE FIVE NEWER VARIABLES</a:t>
            </a:r>
          </a:p>
        </p:txBody>
      </p:sp>
      <p:sp>
        <p:nvSpPr>
          <p:cNvPr id="227" name="Text 16"/>
          <p:cNvSpPr txBox="1"/>
          <p:nvPr/>
        </p:nvSpPr>
        <p:spPr>
          <a:xfrm>
            <a:off x="886968" y="5132829"/>
            <a:ext cx="10158985" cy="48615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2000"/>
              </a:lnSpc>
              <a:defRPr sz="1200">
                <a:solidFill>
                  <a:srgbClr val="1F2430"/>
                </a:solidFill>
                <a:latin typeface="Roboto"/>
                <a:ea typeface="Roboto"/>
                <a:cs typeface="Roboto"/>
                <a:sym typeface="Roboto"/>
              </a:defRPr>
            </a:lvl1pPr>
          </a:lstStyle>
          <a:p>
            <a:pPr/>
            <a:r>
              <a:t>Internet use tracked life expectancy about as closely as GDP did, and urban population share and electricity access weren't far behind. Unemployment and population density were the weakest of everything tested in this project, new or original.</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9" name="Text 0"/>
          <p:cNvSpPr txBox="1"/>
          <p:nvPr/>
        </p:nvSpPr>
        <p:spPr>
          <a:xfrm>
            <a:off x="777239" y="669290"/>
            <a:ext cx="722376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400">
                <a:solidFill>
                  <a:srgbClr val="C1611D"/>
                </a:solidFill>
                <a:latin typeface="Roboto"/>
                <a:ea typeface="Roboto"/>
                <a:cs typeface="Roboto"/>
                <a:sym typeface="Roboto"/>
              </a:defRPr>
            </a:lvl1pPr>
          </a:lstStyle>
          <a:p>
            <a:pPr/>
            <a:r>
              <a:t>CONCLUSION</a:t>
            </a:r>
          </a:p>
        </p:txBody>
      </p:sp>
      <p:sp>
        <p:nvSpPr>
          <p:cNvPr id="230" name="Text 1"/>
          <p:cNvSpPr txBox="1"/>
          <p:nvPr/>
        </p:nvSpPr>
        <p:spPr>
          <a:xfrm>
            <a:off x="777239" y="2046955"/>
            <a:ext cx="10424161" cy="101981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nSpc>
                <a:spcPct val="115000"/>
              </a:lnSpc>
              <a:defRPr b="1" sz="2800">
                <a:solidFill>
                  <a:srgbClr val="1F2430"/>
                </a:solidFill>
                <a:latin typeface="Roboto"/>
                <a:ea typeface="Roboto"/>
                <a:cs typeface="Roboto"/>
                <a:sym typeface="Roboto"/>
              </a:defRPr>
            </a:pPr>
            <a:r>
              <a:t>No single variable explains life expectancy,</a:t>
            </a:r>
          </a:p>
          <a:p>
            <a:pPr>
              <a:lnSpc>
                <a:spcPct val="115000"/>
              </a:lnSpc>
              <a:defRPr b="1" sz="2800">
                <a:solidFill>
                  <a:srgbClr val="1F2430"/>
                </a:solidFill>
                <a:latin typeface="Roboto"/>
                <a:ea typeface="Roboto"/>
                <a:cs typeface="Roboto"/>
                <a:sym typeface="Roboto"/>
              </a:defRPr>
            </a:pPr>
            <a:r>
              <a:t>but the data does rank the candidates.</a:t>
            </a:r>
          </a:p>
        </p:txBody>
      </p:sp>
      <p:sp>
        <p:nvSpPr>
          <p:cNvPr id="231" name="Text 2"/>
          <p:cNvSpPr txBox="1"/>
          <p:nvPr/>
        </p:nvSpPr>
        <p:spPr>
          <a:xfrm>
            <a:off x="790114" y="3128233"/>
            <a:ext cx="10149841" cy="163576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35000"/>
              </a:lnSpc>
              <a:defRPr sz="1600">
                <a:solidFill>
                  <a:srgbClr val="5B6472"/>
                </a:solidFill>
                <a:latin typeface="Roboto"/>
                <a:ea typeface="Roboto"/>
                <a:cs typeface="Roboto"/>
                <a:sym typeface="Roboto"/>
              </a:defRPr>
            </a:lvl1pPr>
          </a:lstStyle>
          <a:p>
            <a:pPr/>
            <a:r>
              <a:t>Healthcare workforce capacity and overall wealth matter more than raw spending share. Geography still tracks pretty closely with income twenty years into the century. And a clear long-term upward trend can still carry a real dip inside it. Building this as three linked dashboards instead of eleven separate charts is what made comparisons like GDP against expenditure, or one region against another, something I could actually click through rather than just describe.</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